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5"/>
  </p:handoutMasterIdLst>
  <p:sldIdLst>
    <p:sldId id="271" r:id="rId3"/>
    <p:sldId id="305" r:id="rId5"/>
    <p:sldId id="306" r:id="rId6"/>
    <p:sldId id="307" r:id="rId7"/>
    <p:sldId id="308" r:id="rId8"/>
    <p:sldId id="313" r:id="rId9"/>
    <p:sldId id="309" r:id="rId10"/>
    <p:sldId id="310" r:id="rId11"/>
    <p:sldId id="311" r:id="rId12"/>
    <p:sldId id="312" r:id="rId13"/>
    <p:sldId id="304"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F96779-8682-4CD9-90C2-D7A49281830D}">
          <p14:sldIdLst>
            <p14:sldId id="271"/>
            <p14:sldId id="305"/>
            <p14:sldId id="306"/>
            <p14:sldId id="307"/>
            <p14:sldId id="308"/>
            <p14:sldId id="313"/>
            <p14:sldId id="309"/>
            <p14:sldId id="310"/>
            <p14:sldId id="311"/>
            <p14:sldId id="312"/>
          </p14:sldIdLst>
        </p14:section>
        <p14:section name="Untitled Section" id="{18D748A1-B9CB-40AB-9130-D732C7E4D7E9}">
          <p14:sldIdLst>
            <p14:sldId id="304"/>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DD8ACB-2480-836F-8513-F809A1C233EF}" name="Abraham Dinakaran J" initials="ADJ" userId="S::adinakaran@kluniversity.in::a265c4b0-0b4d-41cc-8169-c05df22ffe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microsoft.com/office/2018/10/relationships/authors" Targe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2FC287-3538-4997-9970-44BF1FF30DD5}" type="datetime1">
              <a:rPr lang="en-IN"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1FDA32-7B86-4AE0-9240-7E2DEEC04CE4}" type="slidenum">
              <a:rPr lang="en-US" smtClean="0"/>
            </a:fld>
            <a:endParaRPr 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1657D-0517-4C9F-B58C-7229AAFEBC31}" type="datetime1">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A71A4B-7F78-4497-A7BB-B19313066BC2}" type="slidenum">
              <a:rPr lang="en-IN" smtClean="0"/>
            </a:fld>
            <a:endParaRPr lang="en-IN"/>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p:cNvSpPr>
            <a:spLocks noGrp="1"/>
          </p:cNvSpPr>
          <p:nvPr>
            <p:ph type="dt" idx="1"/>
          </p:nvPr>
        </p:nvSpPr>
        <p:spPr/>
        <p:txBody>
          <a:bodyPr/>
          <a:lstStyle/>
          <a:p>
            <a:fld id="{3E581EE8-6511-46D3-8A2A-80CFF2C8D0A3}" type="datetime1">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a:xfrm>
            <a:off x="990600" y="6526385"/>
            <a:ext cx="1200150" cy="266702"/>
          </a:xfrm>
          <a:prstGeom prst="rect">
            <a:avLst/>
          </a:prstGeom>
        </p:spPr>
        <p:txBody>
          <a:bodyPr/>
          <a:lstStyle>
            <a:lvl1pPr>
              <a:defRPr sz="900"/>
            </a:lvl1pPr>
          </a:lstStyle>
          <a:p>
            <a:fld id="{8453BCF2-CB48-4BA2-A036-8950CD1C6A93}" type="datetime1">
              <a:rPr lang="en-US" smtClean="0">
                <a:solidFill>
                  <a:prstClr val="black">
                    <a:tint val="75000"/>
                  </a:prstClr>
                </a:solidFill>
              </a:rPr>
            </a:fld>
            <a:endParaRPr lang="en-US" dirty="0">
              <a:solidFill>
                <a:prstClr val="black">
                  <a:tint val="75000"/>
                </a:prstClr>
              </a:solidFill>
            </a:endParaRPr>
          </a:p>
        </p:txBody>
      </p:sp>
      <p:sp>
        <p:nvSpPr>
          <p:cNvPr id="5" name="Footer Placeholder 4"/>
          <p:cNvSpPr>
            <a:spLocks noGrp="1"/>
          </p:cNvSpPr>
          <p:nvPr>
            <p:ph type="ftr" sz="quarter" idx="11"/>
          </p:nvPr>
        </p:nvSpPr>
        <p:spPr>
          <a:xfrm>
            <a:off x="5943600" y="642796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4191000" y="6535592"/>
            <a:ext cx="457200" cy="266701"/>
          </a:xfrm>
          <a:prstGeom prst="rect">
            <a:avLst/>
          </a:prstGeom>
        </p:spPr>
        <p:txBody>
          <a:bodyPr/>
          <a:lstStyle>
            <a:lvl1pPr>
              <a:defRPr sz="900"/>
            </a:lvl1pPr>
          </a:lstStyle>
          <a:p>
            <a:fld id="{B3561BA9-CDCF-4958-B8AB-66F3BF063E1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492875"/>
            <a:ext cx="1123950" cy="267280"/>
          </a:xfrm>
          <a:prstGeom prst="rect">
            <a:avLst/>
          </a:prstGeom>
        </p:spPr>
        <p:txBody>
          <a:bodyPr/>
          <a:lstStyle>
            <a:lvl1pPr>
              <a:defRPr sz="900"/>
            </a:lvl1pPr>
          </a:lstStyle>
          <a:p>
            <a:fld id="{F0926A81-3A46-4B7B-A2F8-E2A558D9191F}" type="datetime1">
              <a:rPr lang="en-US" smtClean="0">
                <a:solidFill>
                  <a:prstClr val="black">
                    <a:tint val="75000"/>
                  </a:prstClr>
                </a:solidFill>
              </a:rPr>
            </a:fld>
            <a:endParaRPr lang="en-US" dirty="0">
              <a:solidFill>
                <a:prstClr val="black">
                  <a:tint val="75000"/>
                </a:prstClr>
              </a:solidFill>
            </a:endParaRPr>
          </a:p>
        </p:txBody>
      </p:sp>
      <p:sp>
        <p:nvSpPr>
          <p:cNvPr id="6" name="Slide Number Placeholder 5"/>
          <p:cNvSpPr>
            <a:spLocks noGrp="1"/>
          </p:cNvSpPr>
          <p:nvPr>
            <p:ph type="sldNum" sz="quarter" idx="12"/>
          </p:nvPr>
        </p:nvSpPr>
        <p:spPr>
          <a:xfrm>
            <a:off x="3962400" y="6492875"/>
            <a:ext cx="2057400" cy="365125"/>
          </a:xfrm>
          <a:prstGeom prst="rect">
            <a:avLst/>
          </a:prstGeom>
        </p:spPr>
        <p:txBody>
          <a:bodyPr/>
          <a:lstStyle>
            <a:lvl1pPr>
              <a:defRPr sz="900"/>
            </a:lvl1pPr>
          </a:lstStyle>
          <a:p>
            <a:fld id="{B3561BA9-CDCF-4958-B8AB-66F3BF063E13}" type="slidenum">
              <a:rPr lang="en-US" smtClean="0">
                <a:solidFill>
                  <a:prstClr val="black">
                    <a:tint val="75000"/>
                  </a:prstClr>
                </a:solidFill>
              </a:rPr>
            </a:fld>
            <a:endParaRPr lang="en-US" dirty="0">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7497C174-5A51-4D18-8F67-D9F14D2F34C3}"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1CE59E2F-5892-435A-AE19-CDF7821064E4}"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BEFAB2A4-D3CE-4715-B935-416579E77195}" type="datetime1">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AB65A450-9487-4E64-AB52-9E7DA1C37762}"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6C014150-8307-4D3C-BBBB-0734CBD939B0}" type="datetime1">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D880DA0-68D9-4E75-BA39-DC1403DEB0D4}"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B4E1A77-28DA-48C1-B06D-78B5B0A2C0A2}"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96EF5A3-7886-44C2-92BF-298F6F904133}"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matchingName="Title and Content">
  <p:cSld name="1_Title and Content">
    <p:spTree>
      <p:nvGrpSpPr>
        <p:cNvPr id="1"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jpeg"/><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sp>
        <p:nvSpPr>
          <p:cNvPr id="2" name="Rectangle 1"/>
          <p:cNvSpPr/>
          <p:nvPr userDrawn="1"/>
        </p:nvSpPr>
        <p:spPr>
          <a:xfrm>
            <a:off x="0" y="6812282"/>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userDrawn="1"/>
        </p:nvSpPr>
        <p:spPr>
          <a:xfrm>
            <a:off x="0" y="1"/>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Background pattern&#10;&#10;Description automatically generated"/>
          <p:cNvPicPr>
            <a:picLocks noChangeAspect="1"/>
          </p:cNvPicPr>
          <p:nvPr userDrawn="1"/>
        </p:nvPicPr>
        <p:blipFill rotWithShape="1">
          <a:blip r:embed="rId12">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4419600" y="3179470"/>
            <a:ext cx="4648200" cy="3588778"/>
          </a:xfrm>
          <a:prstGeom prst="rect">
            <a:avLst/>
          </a:prstGeom>
        </p:spPr>
      </p:pic>
      <p:sp>
        <p:nvSpPr>
          <p:cNvPr id="7" name="TextBox 6"/>
          <p:cNvSpPr txBox="1"/>
          <p:nvPr userDrawn="1"/>
        </p:nvSpPr>
        <p:spPr>
          <a:xfrm>
            <a:off x="1" y="6602979"/>
            <a:ext cx="1599051" cy="184666"/>
          </a:xfrm>
          <a:prstGeom prst="rect">
            <a:avLst/>
          </a:prstGeom>
          <a:noFill/>
        </p:spPr>
        <p:txBody>
          <a:bodyPr wrap="square" rtlCol="0">
            <a:spAutoFit/>
          </a:bodyPr>
          <a:lstStyle/>
          <a:p>
            <a:r>
              <a:rPr lang="en-US" sz="600">
                <a:solidFill>
                  <a:schemeClr val="bg1">
                    <a:lumMod val="95000"/>
                  </a:schemeClr>
                </a:solidFill>
              </a:rPr>
              <a:t>CREATED BY K. VICTOR BABU</a:t>
            </a:r>
            <a:endParaRPr lang="en-US" sz="600">
              <a:solidFill>
                <a:schemeClr val="bg1">
                  <a:lumMod val="95000"/>
                </a:schemeClr>
              </a:solidFill>
            </a:endParaRPr>
          </a:p>
        </p:txBody>
      </p:sp>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45720"/>
            <a:ext cx="838201" cy="792479"/>
          </a:xfrm>
          <a:prstGeom prst="rect">
            <a:avLst/>
          </a:prstGeom>
        </p:spPr>
      </p:pic>
      <p:pic>
        <p:nvPicPr>
          <p:cNvPr id="13" name="Picture 1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710196" y="6400799"/>
            <a:ext cx="2331280" cy="343587"/>
          </a:xfrm>
          <a:prstGeom prst="rect">
            <a:avLst/>
          </a:prstGeom>
        </p:spPr>
      </p:pic>
      <p:pic>
        <p:nvPicPr>
          <p:cNvPr id="16" name="Picture 15"/>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227828" y="228600"/>
            <a:ext cx="458972" cy="4563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19" name="Rectangle: Rounded Corners 18"/>
          <p:cNvSpPr/>
          <p:nvPr/>
        </p:nvSpPr>
        <p:spPr>
          <a:xfrm>
            <a:off x="3124200" y="1115413"/>
            <a:ext cx="3364748" cy="431074"/>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475" name="Google Shape;475;p16"/>
          <p:cNvSpPr txBox="1"/>
          <p:nvPr/>
        </p:nvSpPr>
        <p:spPr>
          <a:xfrm>
            <a:off x="2492519" y="1051115"/>
            <a:ext cx="4382085" cy="530884"/>
          </a:xfrm>
          <a:prstGeom prst="rect">
            <a:avLst/>
          </a:prstGeom>
          <a:noFill/>
          <a:ln>
            <a:noFill/>
          </a:ln>
          <a:effectLst/>
        </p:spPr>
        <p:txBody>
          <a:bodyPr spcFirstLastPara="1" wrap="square" lIns="68569" tIns="34275" rIns="68569" bIns="34275" anchor="t" anchorCtr="0">
            <a:spAutoFit/>
          </a:bodyPr>
          <a:lstStyle/>
          <a:p>
            <a:pPr algn="ctr" defTabSz="685800"/>
            <a:r>
              <a:rPr lang="en-US" sz="3000" dirty="0">
                <a:solidFill>
                  <a:srgbClr val="C00000"/>
                </a:solidFill>
                <a:latin typeface="Calibri" panose="020F0502020204030204"/>
                <a:cs typeface="Poppins" pitchFamily="2" charset="77"/>
              </a:rPr>
              <a:t>  Department of MCA</a:t>
            </a:r>
            <a:endParaRPr lang="en-US" sz="3000" dirty="0">
              <a:solidFill>
                <a:srgbClr val="C00000"/>
              </a:solidFill>
              <a:latin typeface="Calibri" panose="020F0502020204030204"/>
              <a:cs typeface="Poppins" pitchFamily="2" charset="77"/>
            </a:endParaRPr>
          </a:p>
        </p:txBody>
      </p:sp>
      <p:sp>
        <p:nvSpPr>
          <p:cNvPr id="4" name="TextBox 3"/>
          <p:cNvSpPr txBox="1"/>
          <p:nvPr/>
        </p:nvSpPr>
        <p:spPr>
          <a:xfrm>
            <a:off x="2492375" y="2057400"/>
            <a:ext cx="6434455" cy="1938020"/>
          </a:xfrm>
          <a:prstGeom prst="rect">
            <a:avLst/>
          </a:prstGeom>
          <a:noFill/>
        </p:spPr>
        <p:txBody>
          <a:bodyPr wrap="square">
            <a:spAutoFit/>
          </a:bodyPr>
          <a:lstStyle/>
          <a:p>
            <a:r>
              <a:rPr lang="en-US" sz="2400" dirty="0">
                <a:solidFill>
                  <a:schemeClr val="accent4">
                    <a:lumMod val="50000"/>
                  </a:schemeClr>
                </a:solidFill>
                <a:latin typeface="Times New Roman" panose="02020603050405020304" pitchFamily="18" charset="0"/>
                <a:cs typeface="Times New Roman" panose="02020603050405020304" pitchFamily="18" charset="0"/>
              </a:rPr>
              <a:t>Slide 1:</a:t>
            </a:r>
            <a:r>
              <a:rPr lang="en-IN" altLang="en-US" sz="2400" dirty="0">
                <a:solidFill>
                  <a:schemeClr val="accent4">
                    <a:lumMod val="50000"/>
                  </a:schemeClr>
                </a:solidFill>
                <a:latin typeface="Times New Roman" panose="02020603050405020304" pitchFamily="18" charset="0"/>
                <a:cs typeface="Times New Roman" panose="02020603050405020304" pitchFamily="18" charset="0"/>
              </a:rPr>
              <a:t>Title</a:t>
            </a:r>
            <a:br>
              <a:rPr lang="en-US" sz="2400" dirty="0">
                <a:solidFill>
                  <a:schemeClr val="accent4">
                    <a:lumMod val="50000"/>
                  </a:schemeClr>
                </a:solidFill>
                <a:latin typeface="Times New Roman" panose="02020603050405020304" pitchFamily="18" charset="0"/>
                <a:cs typeface="Times New Roman" panose="02020603050405020304" pitchFamily="18" charset="0"/>
              </a:rPr>
            </a:br>
            <a:r>
              <a:rPr lang="en-US" sz="2400" dirty="0">
                <a:solidFill>
                  <a:srgbClr val="FFC000"/>
                </a:solidFill>
                <a:sym typeface="+mn-ea"/>
              </a:rPr>
              <a:t>AI-Enhanced Data Visualization for COVID-19 Analysis</a:t>
            </a:r>
            <a:endParaRPr lang="en-US" sz="2400" spc="0" dirty="0">
              <a:solidFill>
                <a:schemeClr val="lt1">
                  <a:lumMod val="100000"/>
                </a:schemeClr>
              </a:solidFill>
              <a:sym typeface="+mn-ea"/>
            </a:endParaRPr>
          </a:p>
          <a:p>
            <a:endParaRPr lang="en-US" sz="2400" dirty="0">
              <a:solidFill>
                <a:schemeClr val="accent4">
                  <a:lumMod val="50000"/>
                </a:schemeClr>
              </a:solidFill>
              <a:latin typeface="Times New Roman" panose="02020603050405020304" pitchFamily="18" charset="0"/>
              <a:cs typeface="Times New Roman" panose="02020603050405020304" pitchFamily="18" charset="0"/>
            </a:endParaRPr>
          </a:p>
          <a:p>
            <a:r>
              <a:rPr lang="en-US" sz="2400" dirty="0">
                <a:solidFill>
                  <a:schemeClr val="accent4">
                    <a:lumMod val="50000"/>
                  </a:schemeClr>
                </a:solidFill>
                <a:latin typeface="Times New Roman" panose="02020603050405020304" pitchFamily="18" charset="0"/>
                <a:cs typeface="Times New Roman" panose="02020603050405020304" pitchFamily="18" charset="0"/>
              </a:rPr>
              <a:t>Under the Guidance of </a:t>
            </a:r>
            <a:r>
              <a:rPr lang="en-IN" altLang="en-US" sz="2400" dirty="0">
                <a:solidFill>
                  <a:schemeClr val="accent4">
                    <a:lumMod val="50000"/>
                  </a:schemeClr>
                </a:solidFill>
                <a:latin typeface="Times New Roman" panose="02020603050405020304" pitchFamily="18" charset="0"/>
                <a:cs typeface="Times New Roman" panose="02020603050405020304" pitchFamily="18" charset="0"/>
              </a:rPr>
              <a:t>:</a:t>
            </a:r>
            <a:r>
              <a:rPr lang="en-US" sz="2400" dirty="0">
                <a:solidFill>
                  <a:schemeClr val="accent4">
                    <a:lumMod val="50000"/>
                  </a:schemeClr>
                </a:solidFill>
                <a:latin typeface="Times New Roman" panose="02020603050405020304" pitchFamily="18" charset="0"/>
                <a:cs typeface="Times New Roman" panose="02020603050405020304" pitchFamily="18" charset="0"/>
              </a:rPr>
              <a:t> Dr</a:t>
            </a:r>
            <a:r>
              <a:rPr lang="en-IN" altLang="en-US" sz="2400" dirty="0">
                <a:solidFill>
                  <a:schemeClr val="accent4">
                    <a:lumMod val="50000"/>
                  </a:schemeClr>
                </a:solidFill>
                <a:latin typeface="Times New Roman" panose="02020603050405020304" pitchFamily="18" charset="0"/>
                <a:cs typeface="Times New Roman" panose="02020603050405020304" pitchFamily="18" charset="0"/>
              </a:rPr>
              <a:t>.Kalimuthu Sir</a:t>
            </a:r>
            <a:endParaRPr lang="en-IN" altLang="en-US" sz="24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5715000" y="4506595"/>
            <a:ext cx="3360420" cy="1476375"/>
          </a:xfrm>
          <a:prstGeom prst="rect">
            <a:avLst/>
          </a:prstGeom>
          <a:noFill/>
        </p:spPr>
        <p:txBody>
          <a:bodyPr wrap="square">
            <a:spAutoFit/>
          </a:bodyPr>
          <a:lstStyle/>
          <a:p>
            <a:r>
              <a:rPr lang="en-US" dirty="0">
                <a:solidFill>
                  <a:schemeClr val="accent1">
                    <a:lumMod val="50000"/>
                  </a:schemeClr>
                </a:solidFill>
              </a:rPr>
              <a:t>By :</a:t>
            </a:r>
            <a:endParaRPr lang="en-US" dirty="0">
              <a:solidFill>
                <a:schemeClr val="accent1">
                  <a:lumMod val="50000"/>
                </a:schemeClr>
              </a:solidFill>
            </a:endParaRPr>
          </a:p>
          <a:p>
            <a:r>
              <a:rPr lang="en-IN" altLang="en-US" dirty="0">
                <a:solidFill>
                  <a:schemeClr val="accent1">
                    <a:lumMod val="50000"/>
                  </a:schemeClr>
                </a:solidFill>
              </a:rPr>
              <a:t>Gorantla Naveen</a:t>
            </a:r>
            <a:endParaRPr lang="en-US" dirty="0">
              <a:solidFill>
                <a:schemeClr val="accent1">
                  <a:lumMod val="50000"/>
                </a:schemeClr>
              </a:solidFill>
            </a:endParaRPr>
          </a:p>
          <a:p>
            <a:r>
              <a:rPr lang="en-IN" altLang="en-US" dirty="0">
                <a:solidFill>
                  <a:schemeClr val="accent1">
                    <a:lumMod val="50000"/>
                  </a:schemeClr>
                </a:solidFill>
              </a:rPr>
              <a:t>2401600196</a:t>
            </a:r>
            <a:endParaRPr lang="en-US" dirty="0">
              <a:solidFill>
                <a:schemeClr val="accent1">
                  <a:lumMod val="50000"/>
                </a:schemeClr>
              </a:solidFill>
            </a:endParaRPr>
          </a:p>
          <a:p>
            <a:r>
              <a:rPr lang="en-US" dirty="0">
                <a:solidFill>
                  <a:schemeClr val="accent1">
                    <a:lumMod val="50000"/>
                  </a:schemeClr>
                </a:solidFill>
              </a:rPr>
              <a:t>Dept. of MCA.</a:t>
            </a:r>
            <a:br>
              <a:rPr lang="en-US" dirty="0">
                <a:solidFill>
                  <a:schemeClr val="accent1">
                    <a:lumMod val="50000"/>
                  </a:schemeClr>
                </a:solidFill>
              </a:rPr>
            </a:br>
            <a:r>
              <a:rPr lang="en-US" dirty="0">
                <a:solidFill>
                  <a:schemeClr val="accent1">
                    <a:lumMod val="50000"/>
                  </a:schemeClr>
                </a:solidFill>
              </a:rPr>
              <a:t>KL University.</a:t>
            </a:r>
            <a:endParaRPr lang="en-US" dirty="0">
              <a:solidFill>
                <a:schemeClr val="accent1">
                  <a:lumMod val="50000"/>
                </a:schemeClr>
              </a:solidFil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19200" y="1066800"/>
            <a:ext cx="7125335" cy="5534025"/>
          </a:xfrm>
          <a:prstGeom prst="rect">
            <a:avLst/>
          </a:prstGeom>
          <a:noFill/>
        </p:spPr>
        <p:txBody>
          <a:bodyPr wrap="square">
            <a:noAutofit/>
          </a:bodyPr>
          <a:lstStyle/>
          <a:p>
            <a:r>
              <a:rPr lang="en-US" u="sng" dirty="0">
                <a:solidFill>
                  <a:schemeClr val="tx1"/>
                </a:solidFill>
              </a:rPr>
              <a:t>Problem Statement </a:t>
            </a:r>
            <a:br>
              <a:rPr lang="en-US" dirty="0">
                <a:solidFill>
                  <a:schemeClr val="accent4">
                    <a:lumMod val="50000"/>
                  </a:schemeClr>
                </a:solidFill>
              </a:rPr>
            </a:br>
            <a:endParaRPr lang="en-US" dirty="0">
              <a:solidFill>
                <a:schemeClr val="accent4">
                  <a:lumMod val="50000"/>
                </a:schemeClr>
              </a:solidFill>
            </a:endParaRPr>
          </a:p>
          <a:p>
            <a:pPr algn="just"/>
            <a:r>
              <a:rPr lang="en-US" altLang="en-US" dirty="0">
                <a:solidFill>
                  <a:schemeClr val="accent4">
                    <a:lumMod val="50000"/>
                  </a:schemeClr>
                </a:solidFill>
              </a:rPr>
              <a:t>During the COVID-19 pandemic, a large amount of data was generated daily across different regions. Most of this data is presented in numerical or tabular formats, which makes it difficult for users to clearly understand the information. Existing systems mainly provide static reports without interactive visual support. Because of this, analyzing trends and identifying patterns becomes challenging for users.</a:t>
            </a:r>
            <a:endParaRPr lang="en-US" altLang="en-US" dirty="0">
              <a:solidFill>
                <a:schemeClr val="accent4">
                  <a:lumMod val="50000"/>
                </a:schemeClr>
              </a:solidFill>
            </a:endParaRPr>
          </a:p>
          <a:p>
            <a:pPr algn="just"/>
            <a:endParaRPr lang="en-US" altLang="en-US" dirty="0">
              <a:solidFill>
                <a:schemeClr val="accent4">
                  <a:lumMod val="50000"/>
                </a:schemeClr>
              </a:solidFill>
            </a:endParaRPr>
          </a:p>
          <a:p>
            <a:pPr algn="just"/>
            <a:r>
              <a:rPr lang="en-US" altLang="en-US" u="sng" dirty="0">
                <a:solidFill>
                  <a:schemeClr val="tx1"/>
                </a:solidFill>
              </a:rPr>
              <a:t>Existing Issues </a:t>
            </a:r>
            <a:endParaRPr lang="en-US" altLang="en-US" u="sng" dirty="0">
              <a:solidFill>
                <a:schemeClr val="tx1"/>
              </a:solidFill>
            </a:endParaRPr>
          </a:p>
          <a:p>
            <a:pPr algn="just"/>
            <a:endParaRPr lang="en-US" altLang="en-US"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COVID-19 data is presented mainly in numerical or tabular formats.</a:t>
            </a:r>
            <a:endParaRPr lang="en-US" altLang="en-US" dirty="0">
              <a:solidFill>
                <a:schemeClr val="accent4">
                  <a:lumMod val="50000"/>
                </a:schemeClr>
              </a:solidFill>
            </a:endParaRPr>
          </a:p>
          <a:p>
            <a:pPr marL="285750" indent="-285750" algn="just">
              <a:buFont typeface="Arial" panose="020B0604020202020204" pitchFamily="34" charset="0"/>
              <a:buChar char="•"/>
            </a:pPr>
            <a:endParaRPr lang="en-US" altLang="en-US"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Existing systems provide static reports with no interactivity.</a:t>
            </a:r>
            <a:endParaRPr lang="en-US" altLang="en-US" dirty="0">
              <a:solidFill>
                <a:schemeClr val="accent4">
                  <a:lumMod val="50000"/>
                </a:schemeClr>
              </a:solidFill>
            </a:endParaRPr>
          </a:p>
          <a:p>
            <a:pPr marL="285750" indent="-285750" algn="just">
              <a:buFont typeface="Arial" panose="020B0604020202020204" pitchFamily="34" charset="0"/>
              <a:buChar char="•"/>
            </a:pPr>
            <a:endParaRPr lang="en-US" altLang="en-US"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Difficult to identify trends and patterns across time and regions.</a:t>
            </a:r>
            <a:endParaRPr lang="en-US" altLang="en-US" dirty="0">
              <a:solidFill>
                <a:schemeClr val="accent4">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5485" y="1371600"/>
            <a:ext cx="8058785" cy="4143375"/>
          </a:xfrm>
          <a:prstGeom prst="rect">
            <a:avLst/>
          </a:prstGeom>
          <a:noFill/>
        </p:spPr>
        <p:txBody>
          <a:bodyPr wrap="square">
            <a:noAutofit/>
          </a:bodyPr>
          <a:lstStyle/>
          <a:p>
            <a:pPr>
              <a:buNone/>
            </a:pPr>
            <a:r>
              <a:rPr lang="en-US" b="1" u="sng" dirty="0">
                <a:solidFill>
                  <a:schemeClr val="tx1"/>
                </a:solidFill>
              </a:rPr>
              <a:t>Scope of the Project</a:t>
            </a:r>
            <a:endParaRPr lang="en-US" b="1" u="sng" dirty="0">
              <a:solidFill>
                <a:schemeClr val="tx1"/>
              </a:solidFill>
            </a:endParaRPr>
          </a:p>
          <a:p>
            <a:pPr>
              <a:buNone/>
            </a:pPr>
            <a:endParaRPr lang="en-US" b="1"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Uses historical COVID-19 data</a:t>
            </a:r>
            <a:endParaRPr lang="en-US" altLang="en-US" dirty="0">
              <a:solidFill>
                <a:schemeClr val="accent4">
                  <a:lumMod val="50000"/>
                </a:schemeClr>
              </a:solidFill>
            </a:endParaRPr>
          </a:p>
          <a:p>
            <a:pPr algn="just">
              <a:buFont typeface="Arial" panose="020B0604020202020204" pitchFamily="34" charset="0"/>
              <a:buChar char="•"/>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Focuses on data cleaning and visualization</a:t>
            </a:r>
            <a:endParaRPr lang="en-US" altLang="en-US" dirty="0">
              <a:solidFill>
                <a:schemeClr val="accent4">
                  <a:lumMod val="50000"/>
                </a:schemeClr>
              </a:solidFill>
            </a:endParaRPr>
          </a:p>
          <a:p>
            <a:pPr algn="just">
              <a:buFont typeface="Arial" panose="020B0604020202020204" pitchFamily="34" charset="0"/>
              <a:buChar char="•"/>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Provides interactive dashboards for analysis</a:t>
            </a:r>
            <a:endParaRPr lang="en-US" altLang="en-US" dirty="0">
              <a:solidFill>
                <a:schemeClr val="accent4">
                  <a:lumMod val="50000"/>
                </a:schemeClr>
              </a:solidFill>
            </a:endParaRPr>
          </a:p>
          <a:p>
            <a:pPr algn="just">
              <a:buFont typeface="Arial" panose="020B0604020202020204" pitchFamily="34" charset="0"/>
              <a:buChar char="•"/>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Supports trend and pattern analysis</a:t>
            </a:r>
            <a:endParaRPr lang="en-US" altLang="en-US" dirty="0">
              <a:solidFill>
                <a:schemeClr val="accent4">
                  <a:lumMod val="50000"/>
                </a:schemeClr>
              </a:solidFill>
            </a:endParaRPr>
          </a:p>
          <a:p>
            <a:pPr algn="just">
              <a:buFont typeface="Arial" panose="020B0604020202020204" pitchFamily="34" charset="0"/>
              <a:buChar char="•"/>
            </a:pPr>
            <a:endParaRPr lang="en-US" altLang="en-US" dirty="0">
              <a:solidFill>
                <a:schemeClr val="accent4">
                  <a:lumMod val="50000"/>
                </a:schemeClr>
              </a:solidFill>
            </a:endParaRPr>
          </a:p>
          <a:p>
            <a:pPr algn="just">
              <a:buFont typeface="Arial" panose="020B0604020202020204" pitchFamily="34" charset="0"/>
              <a:buChar char="•"/>
            </a:pPr>
            <a:r>
              <a:rPr lang="en-US" altLang="en-US" dirty="0">
                <a:solidFill>
                  <a:schemeClr val="accent4">
                    <a:lumMod val="50000"/>
                  </a:schemeClr>
                </a:solidFill>
              </a:rPr>
              <a:t>Intended for students, researchers, and analysts</a:t>
            </a:r>
            <a:endParaRPr lang="en-US" altLang="en-US" dirty="0">
              <a:solidFill>
                <a:schemeClr val="accent4">
                  <a:lumMod val="50000"/>
                </a:schemeClr>
              </a:solidFill>
            </a:endParaRPr>
          </a:p>
          <a:p>
            <a:pPr indent="0" algn="just">
              <a:buFont typeface="Arial" panose="020B0604020202020204" pitchFamily="34" charset="0"/>
              <a:buNone/>
            </a:pPr>
            <a:endParaRPr lang="en-US" altLang="en-US" dirty="0">
              <a:solidFill>
                <a:schemeClr val="accent4">
                  <a:lumMod val="50000"/>
                </a:schemeClr>
              </a:solidFill>
            </a:endParaRPr>
          </a:p>
          <a:p>
            <a:pPr indent="0" algn="just">
              <a:buFont typeface="Arial" panose="020B0604020202020204" pitchFamily="34" charset="0"/>
              <a:buNone/>
            </a:pPr>
            <a:endParaRPr lang="en-US" altLang="en-US" dirty="0">
              <a:solidFill>
                <a:schemeClr val="accent4">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1905000"/>
            <a:ext cx="7467600" cy="4830445"/>
          </a:xfrm>
          <a:prstGeom prst="rect">
            <a:avLst/>
          </a:prstGeom>
          <a:noFill/>
        </p:spPr>
        <p:txBody>
          <a:bodyPr wrap="square">
            <a:noAutofit/>
          </a:bodyPr>
          <a:lstStyle/>
          <a:p>
            <a:pPr>
              <a:buNone/>
            </a:pPr>
            <a:r>
              <a:rPr lang="en-US" b="1" u="sng" dirty="0">
                <a:solidFill>
                  <a:schemeClr val="tx1"/>
                </a:solidFill>
              </a:rPr>
              <a:t>Proposed Solution</a:t>
            </a:r>
            <a:endParaRPr lang="en-US" b="1" u="sng" dirty="0">
              <a:solidFill>
                <a:schemeClr val="tx1"/>
              </a:solidFill>
            </a:endParaRPr>
          </a:p>
          <a:p>
            <a:pPr>
              <a:buNone/>
            </a:pPr>
            <a:endParaRPr lang="en-US" b="1"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To overcome the problem, I developed an interactive COVID-19 dashboard using Power BI.</a:t>
            </a:r>
            <a:endParaRPr lang="en-US" altLang="en-US"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The system converts complex data into simple visual dashboards.</a:t>
            </a:r>
            <a:endParaRPr lang="en-US" altLang="en-US"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It helps users identify trends and patterns across regions and time.</a:t>
            </a:r>
            <a:endParaRPr lang="en-US" altLang="en-US" dirty="0">
              <a:solidFill>
                <a:schemeClr val="accent4">
                  <a:lumMod val="50000"/>
                </a:schemeClr>
              </a:solidFill>
            </a:endParaRPr>
          </a:p>
          <a:p>
            <a:pPr marL="285750" indent="-285750" algn="just">
              <a:buFont typeface="Arial" panose="020B0604020202020204" pitchFamily="34" charset="0"/>
              <a:buChar char="•"/>
            </a:pPr>
            <a:r>
              <a:rPr lang="en-US" altLang="en-US" dirty="0">
                <a:solidFill>
                  <a:schemeClr val="accent4">
                    <a:lumMod val="50000"/>
                  </a:schemeClr>
                </a:solidFill>
              </a:rPr>
              <a:t>Basic AI-based trend analysis is used to improve data interpretation.</a:t>
            </a:r>
            <a:endParaRPr lang="en-US" altLang="en-US" dirty="0">
              <a:solidFill>
                <a:schemeClr val="accent4">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43000" y="1371600"/>
            <a:ext cx="7153275" cy="4868545"/>
          </a:xfrm>
          <a:prstGeom prst="rect">
            <a:avLst/>
          </a:prstGeom>
          <a:noFill/>
        </p:spPr>
        <p:txBody>
          <a:bodyPr wrap="square">
            <a:noAutofit/>
          </a:bodyPr>
          <a:lstStyle/>
          <a:p>
            <a:r>
              <a:rPr lang="en-US" dirty="0">
                <a:solidFill>
                  <a:schemeClr val="accent4">
                    <a:lumMod val="50000"/>
                  </a:schemeClr>
                </a:solidFill>
              </a:rPr>
              <a:t>System Architecture</a:t>
            </a:r>
            <a:r>
              <a:rPr lang="en-IN" altLang="en-US" dirty="0">
                <a:solidFill>
                  <a:schemeClr val="accent4">
                    <a:lumMod val="50000"/>
                  </a:schemeClr>
                </a:solidFill>
              </a:rPr>
              <a:t>:</a:t>
            </a:r>
            <a:endParaRPr lang="en-US" dirty="0">
              <a:solidFill>
                <a:schemeClr val="accent4">
                  <a:lumMod val="50000"/>
                </a:schemeClr>
              </a:solidFill>
            </a:endParaRPr>
          </a:p>
          <a:p>
            <a:endParaRPr lang="en-US" dirty="0">
              <a:solidFill>
                <a:schemeClr val="accent4">
                  <a:lumMod val="50000"/>
                </a:schemeClr>
              </a:solidFill>
            </a:endParaRPr>
          </a:p>
          <a:p>
            <a:r>
              <a:rPr lang="en-US" dirty="0">
                <a:solidFill>
                  <a:schemeClr val="tx1">
                    <a:lumMod val="85000"/>
                    <a:lumOff val="15000"/>
                  </a:schemeClr>
                </a:solidFill>
                <a:sym typeface="+mn-ea"/>
              </a:rPr>
              <a:t>The system follows a structured data flow for analysis and visualization.</a:t>
            </a:r>
            <a:endParaRPr lang="en-US" dirty="0">
              <a:solidFill>
                <a:schemeClr val="tx1">
                  <a:lumMod val="85000"/>
                  <a:lumOff val="15000"/>
                </a:schemeClr>
              </a:solidFill>
              <a:sym typeface="+mn-ea"/>
            </a:endParaRPr>
          </a:p>
          <a:p>
            <a:endParaRPr lang="en-US" dirty="0">
              <a:solidFill>
                <a:schemeClr val="tx1">
                  <a:lumMod val="85000"/>
                  <a:lumOff val="15000"/>
                </a:schemeClr>
              </a:solidFill>
              <a:latin typeface="+mn-lt"/>
            </a:endParaRPr>
          </a:p>
          <a:p>
            <a:r>
              <a:rPr lang="en-US" dirty="0">
                <a:solidFill>
                  <a:schemeClr val="accent4">
                    <a:lumMod val="50000"/>
                  </a:schemeClr>
                </a:solidFill>
              </a:rPr>
              <a:t>Components explanation</a:t>
            </a:r>
            <a:r>
              <a:rPr lang="en-IN" altLang="en-US" dirty="0">
                <a:solidFill>
                  <a:schemeClr val="accent4">
                    <a:lumMod val="50000"/>
                  </a:schemeClr>
                </a:solidFill>
              </a:rPr>
              <a:t>:</a:t>
            </a:r>
            <a:endParaRPr lang="en-US" dirty="0">
              <a:solidFill>
                <a:schemeClr val="accent4">
                  <a:lumMod val="50000"/>
                </a:schemeClr>
              </a:solidFill>
            </a:endParaRPr>
          </a:p>
          <a:p>
            <a:pPr>
              <a:lnSpc>
                <a:spcPct val="150000"/>
              </a:lnSpc>
              <a:spcBef>
                <a:spcPct val="0"/>
              </a:spcBef>
              <a:spcAft>
                <a:spcPct val="0"/>
              </a:spcAft>
            </a:pPr>
            <a:r>
              <a:rPr lang="en-US">
                <a:solidFill>
                  <a:schemeClr val="tx1">
                    <a:lumMod val="85000"/>
                    <a:lumOff val="15000"/>
                  </a:schemeClr>
                </a:solidFill>
                <a:sym typeface="+mn-ea"/>
              </a:rPr>
              <a:t>• COVID-19 Data Source (CSV/Excel)</a:t>
            </a:r>
            <a:endParaRPr lang="en-US">
              <a:solidFill>
                <a:schemeClr val="tx1">
                  <a:lumMod val="85000"/>
                  <a:lumOff val="15000"/>
                </a:schemeClr>
              </a:solidFill>
              <a:latin typeface="+mn-lt"/>
            </a:endParaRPr>
          </a:p>
          <a:p>
            <a:pPr>
              <a:lnSpc>
                <a:spcPct val="150000"/>
              </a:lnSpc>
              <a:spcBef>
                <a:spcPct val="0"/>
              </a:spcBef>
              <a:spcAft>
                <a:spcPct val="0"/>
              </a:spcAft>
            </a:pPr>
            <a:r>
              <a:rPr lang="en-US">
                <a:solidFill>
                  <a:schemeClr val="tx1">
                    <a:lumMod val="85000"/>
                    <a:lumOff val="15000"/>
                  </a:schemeClr>
                </a:solidFill>
                <a:sym typeface="+mn-ea"/>
              </a:rPr>
              <a:t>• Data Cleaning and Processing</a:t>
            </a:r>
            <a:endParaRPr lang="en-US">
              <a:solidFill>
                <a:schemeClr val="tx1">
                  <a:lumMod val="85000"/>
                  <a:lumOff val="15000"/>
                </a:schemeClr>
              </a:solidFill>
              <a:latin typeface="+mn-lt"/>
            </a:endParaRPr>
          </a:p>
          <a:p>
            <a:pPr>
              <a:lnSpc>
                <a:spcPct val="150000"/>
              </a:lnSpc>
              <a:spcBef>
                <a:spcPct val="0"/>
              </a:spcBef>
              <a:spcAft>
                <a:spcPct val="0"/>
              </a:spcAft>
            </a:pPr>
            <a:r>
              <a:rPr lang="en-US">
                <a:solidFill>
                  <a:schemeClr val="tx1">
                    <a:lumMod val="85000"/>
                    <a:lumOff val="15000"/>
                  </a:schemeClr>
                </a:solidFill>
                <a:sym typeface="+mn-ea"/>
              </a:rPr>
              <a:t>• Power BI Dashboard</a:t>
            </a:r>
            <a:endParaRPr lang="en-US">
              <a:solidFill>
                <a:schemeClr val="tx1">
                  <a:lumMod val="85000"/>
                  <a:lumOff val="15000"/>
                </a:schemeClr>
              </a:solidFill>
              <a:latin typeface="+mn-lt"/>
            </a:endParaRPr>
          </a:p>
          <a:p>
            <a:pPr>
              <a:lnSpc>
                <a:spcPct val="150000"/>
              </a:lnSpc>
              <a:spcBef>
                <a:spcPct val="0"/>
              </a:spcBef>
              <a:spcAft>
                <a:spcPct val="0"/>
              </a:spcAft>
            </a:pPr>
            <a:r>
              <a:rPr lang="en-US">
                <a:solidFill>
                  <a:schemeClr val="tx1">
                    <a:lumMod val="85000"/>
                    <a:lumOff val="15000"/>
                  </a:schemeClr>
                </a:solidFill>
                <a:sym typeface="+mn-ea"/>
              </a:rPr>
              <a:t>• AI Insight Engine</a:t>
            </a:r>
            <a:endParaRPr lang="en-US">
              <a:solidFill>
                <a:schemeClr val="tx1">
                  <a:lumMod val="85000"/>
                  <a:lumOff val="15000"/>
                </a:schemeClr>
              </a:solidFill>
              <a:sym typeface="+mn-ea"/>
            </a:endParaRPr>
          </a:p>
          <a:p>
            <a:pPr>
              <a:lnSpc>
                <a:spcPct val="150000"/>
              </a:lnSpc>
              <a:spcBef>
                <a:spcPct val="0"/>
              </a:spcBef>
              <a:spcAft>
                <a:spcPct val="0"/>
              </a:spcAft>
            </a:pPr>
            <a:endParaRPr lang="en-US">
              <a:solidFill>
                <a:schemeClr val="tx1">
                  <a:lumMod val="85000"/>
                  <a:lumOff val="15000"/>
                </a:schemeClr>
              </a:solidFill>
              <a:latin typeface="+mn-lt"/>
            </a:endParaRPr>
          </a:p>
          <a:p>
            <a:r>
              <a:rPr lang="en-US" dirty="0">
                <a:solidFill>
                  <a:schemeClr val="accent4">
                    <a:lumMod val="50000"/>
                  </a:schemeClr>
                </a:solidFill>
              </a:rPr>
              <a:t>Data flow overview</a:t>
            </a:r>
            <a:endParaRPr lang="en-US" dirty="0">
              <a:solidFill>
                <a:schemeClr val="accent4">
                  <a:lumMod val="50000"/>
                </a:schemeClr>
              </a:solidFill>
            </a:endParaRPr>
          </a:p>
          <a:p>
            <a:endParaRPr lang="en-US" dirty="0">
              <a:solidFill>
                <a:schemeClr val="accent4">
                  <a:lumMod val="50000"/>
                </a:schemeClr>
              </a:solidFill>
            </a:endParaRPr>
          </a:p>
          <a:p>
            <a:r>
              <a:rPr lang="en-US" dirty="0">
                <a:solidFill>
                  <a:schemeClr val="tx1">
                    <a:lumMod val="85000"/>
                    <a:lumOff val="15000"/>
                  </a:schemeClr>
                </a:solidFill>
                <a:sym typeface="+mn-ea"/>
              </a:rPr>
              <a:t>Data Flow: Data Collection → Processing → Visualization → AI </a:t>
            </a:r>
            <a:r>
              <a:rPr lang="en-IN" altLang="en-US" dirty="0">
                <a:solidFill>
                  <a:schemeClr val="tx1">
                    <a:lumMod val="85000"/>
                    <a:lumOff val="15000"/>
                  </a:schemeClr>
                </a:solidFill>
                <a:sym typeface="+mn-ea"/>
              </a:rPr>
              <a:t>Patterns</a:t>
            </a:r>
            <a:r>
              <a:rPr lang="en-US" dirty="0">
                <a:solidFill>
                  <a:schemeClr val="tx1">
                    <a:lumMod val="85000"/>
                    <a:lumOff val="15000"/>
                  </a:schemeClr>
                </a:solidFill>
                <a:sym typeface="+mn-ea"/>
              </a:rPr>
              <a:t> → User</a:t>
            </a:r>
            <a:endParaRPr lang="en-US" dirty="0">
              <a:solidFill>
                <a:schemeClr val="tx1">
                  <a:lumMod val="85000"/>
                  <a:lumOff val="15000"/>
                </a:schemeClr>
              </a:solidFill>
              <a:latin typeface="+mn-lt"/>
            </a:endParaRPr>
          </a:p>
          <a:p>
            <a:endParaRPr lang="en-US" dirty="0">
              <a:solidFill>
                <a:schemeClr val="accent4">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334010" y="837565"/>
            <a:ext cx="8345170" cy="54749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2750" y="1708150"/>
            <a:ext cx="6199505" cy="3958590"/>
          </a:xfrm>
          <a:prstGeom prst="rect">
            <a:avLst/>
          </a:prstGeom>
          <a:noFill/>
        </p:spPr>
        <p:txBody>
          <a:bodyPr wrap="square">
            <a:noAutofit/>
          </a:bodyPr>
          <a:lstStyle/>
          <a:p>
            <a:pPr>
              <a:buNone/>
            </a:pPr>
            <a:r>
              <a:rPr lang="en-US" b="1" u="sng" dirty="0">
                <a:solidFill>
                  <a:schemeClr val="tx1"/>
                </a:solidFill>
              </a:rPr>
              <a:t> Technologies Used</a:t>
            </a:r>
            <a:endParaRPr lang="en-US" b="1" u="sng" dirty="0">
              <a:solidFill>
                <a:schemeClr val="tx1"/>
              </a:solidFill>
            </a:endParaRPr>
          </a:p>
          <a:p>
            <a:pPr>
              <a:buNone/>
            </a:pPr>
            <a:endParaRPr lang="en-US" b="1"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Frontend</a:t>
            </a:r>
            <a:r>
              <a:rPr lang="en-IN" altLang="en-US" dirty="0">
                <a:solidFill>
                  <a:schemeClr val="accent4">
                    <a:lumMod val="50000"/>
                  </a:schemeClr>
                </a:solidFill>
              </a:rPr>
              <a:t>: </a:t>
            </a:r>
            <a:r>
              <a:rPr lang="en-US" kern="0" dirty="0">
                <a:ln>
                  <a:noFill/>
                  <a:prstDash val="sysDot"/>
                </a:ln>
                <a:solidFill>
                  <a:schemeClr val="tx1">
                    <a:lumMod val="85000"/>
                    <a:lumOff val="15000"/>
                  </a:schemeClr>
                </a:solidFill>
                <a:sym typeface="+mn-ea"/>
              </a:rPr>
              <a:t>Power BI Dashboard</a:t>
            </a:r>
            <a:r>
              <a:rPr lang="en-IN" altLang="en-US" kern="0" dirty="0">
                <a:ln>
                  <a:noFill/>
                  <a:prstDash val="sysDot"/>
                </a:ln>
                <a:solidFill>
                  <a:schemeClr val="tx1">
                    <a:lumMod val="85000"/>
                    <a:lumOff val="15000"/>
                  </a:schemeClr>
                </a:solidFill>
                <a:sym typeface="+mn-ea"/>
              </a:rPr>
              <a:t>,Python</a:t>
            </a:r>
            <a:endParaRPr lang="en-US" kern="0" dirty="0">
              <a:ln>
                <a:noFill/>
                <a:prstDash val="sysDot"/>
              </a:ln>
              <a:solidFill>
                <a:schemeClr val="tx1">
                  <a:lumMod val="85000"/>
                  <a:lumOff val="15000"/>
                </a:schemeClr>
              </a:solidFill>
              <a:latin typeface="+mn-lt"/>
            </a:endParaRPr>
          </a:p>
          <a:p>
            <a:pPr>
              <a:buFont typeface="Arial" panose="020B0604020202020204" pitchFamily="34" charset="0"/>
              <a:buChar char="•"/>
            </a:pPr>
            <a:endParaRPr lang="en-US"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Backend</a:t>
            </a:r>
            <a:r>
              <a:rPr lang="en-IN" altLang="en-US" dirty="0">
                <a:solidFill>
                  <a:schemeClr val="accent4">
                    <a:lumMod val="50000"/>
                  </a:schemeClr>
                </a:solidFill>
              </a:rPr>
              <a:t>:</a:t>
            </a:r>
            <a:r>
              <a:rPr lang="en-US" kern="0">
                <a:ln>
                  <a:noFill/>
                  <a:prstDash val="sysDot"/>
                </a:ln>
                <a:solidFill>
                  <a:schemeClr val="tx1">
                    <a:lumMod val="85000"/>
                    <a:lumOff val="15000"/>
                  </a:schemeClr>
                </a:solidFill>
                <a:sym typeface="+mn-ea"/>
              </a:rPr>
              <a:t> Power BI Data Processing Engine</a:t>
            </a:r>
            <a:endParaRPr lang="en-US" kern="0">
              <a:ln>
                <a:noFill/>
                <a:prstDash val="sysDot"/>
              </a:ln>
              <a:solidFill>
                <a:schemeClr val="tx1">
                  <a:lumMod val="85000"/>
                  <a:lumOff val="15000"/>
                </a:schemeClr>
              </a:solidFill>
              <a:latin typeface="+mn-lt"/>
            </a:endParaRPr>
          </a:p>
          <a:p>
            <a:pPr indent="0">
              <a:buFont typeface="Arial" panose="020B0604020202020204" pitchFamily="34" charset="0"/>
              <a:buNone/>
            </a:pPr>
            <a:endParaRPr lang="en-US"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Database</a:t>
            </a:r>
            <a:r>
              <a:rPr lang="en-IN" altLang="en-US" dirty="0">
                <a:solidFill>
                  <a:schemeClr val="accent4">
                    <a:lumMod val="50000"/>
                  </a:schemeClr>
                </a:solidFill>
              </a:rPr>
              <a:t>:</a:t>
            </a:r>
            <a:r>
              <a:rPr lang="en-US" kern="0">
                <a:ln>
                  <a:noFill/>
                  <a:prstDash val="sysDot"/>
                </a:ln>
                <a:solidFill>
                  <a:schemeClr val="tx1">
                    <a:lumMod val="85000"/>
                    <a:lumOff val="15000"/>
                  </a:schemeClr>
                </a:solidFill>
                <a:sym typeface="+mn-ea"/>
              </a:rPr>
              <a:t>CSV / Excel files</a:t>
            </a:r>
            <a:endParaRPr lang="en-US" kern="0">
              <a:ln>
                <a:noFill/>
                <a:prstDash val="sysDot"/>
              </a:ln>
              <a:solidFill>
                <a:schemeClr val="tx1">
                  <a:lumMod val="85000"/>
                  <a:lumOff val="15000"/>
                </a:schemeClr>
              </a:solidFill>
              <a:latin typeface="+mn-lt"/>
            </a:endParaRPr>
          </a:p>
          <a:p>
            <a:pPr>
              <a:buFont typeface="Arial" panose="020B0604020202020204" pitchFamily="34" charset="0"/>
              <a:buChar char="•"/>
            </a:pPr>
            <a:endParaRPr lang="en-US" dirty="0">
              <a:solidFill>
                <a:schemeClr val="accent4">
                  <a:lumMod val="50000"/>
                </a:schemeClr>
              </a:solidFill>
            </a:endParaRPr>
          </a:p>
          <a:p>
            <a:pPr>
              <a:lnSpc>
                <a:spcPct val="150000"/>
              </a:lnSpc>
              <a:spcBef>
                <a:spcPct val="0"/>
              </a:spcBef>
              <a:spcAft>
                <a:spcPct val="0"/>
              </a:spcAft>
            </a:pPr>
            <a:r>
              <a:rPr lang="en-US" dirty="0">
                <a:solidFill>
                  <a:schemeClr val="accent4">
                    <a:lumMod val="50000"/>
                  </a:schemeClr>
                </a:solidFill>
              </a:rPr>
              <a:t>Tools &amp; Libraries</a:t>
            </a:r>
            <a:r>
              <a:rPr lang="en-IN" altLang="en-US" dirty="0">
                <a:solidFill>
                  <a:schemeClr val="accent4">
                    <a:lumMod val="50000"/>
                  </a:schemeClr>
                </a:solidFill>
              </a:rPr>
              <a:t>:</a:t>
            </a:r>
            <a:endParaRPr lang="en-IN" altLang="en-US" dirty="0">
              <a:solidFill>
                <a:schemeClr val="accent4">
                  <a:lumMod val="50000"/>
                </a:schemeClr>
              </a:solidFill>
            </a:endParaRPr>
          </a:p>
          <a:p>
            <a:pPr>
              <a:lnSpc>
                <a:spcPct val="150000"/>
              </a:lnSpc>
              <a:spcBef>
                <a:spcPct val="0"/>
              </a:spcBef>
              <a:spcAft>
                <a:spcPct val="0"/>
              </a:spcAft>
            </a:pPr>
            <a:r>
              <a:rPr lang="en-IN" altLang="en-US" kern="0">
                <a:ln>
                  <a:noFill/>
                  <a:prstDash val="sysDot"/>
                </a:ln>
                <a:solidFill>
                  <a:schemeClr val="tx1">
                    <a:lumMod val="85000"/>
                    <a:lumOff val="15000"/>
                  </a:schemeClr>
                </a:solidFill>
                <a:latin typeface="+mn-lt"/>
              </a:rPr>
              <a:t>Pandas</a:t>
            </a:r>
            <a:endParaRPr lang="en-IN" altLang="en-US" kern="0">
              <a:ln>
                <a:noFill/>
                <a:prstDash val="sysDot"/>
              </a:ln>
              <a:solidFill>
                <a:schemeClr val="tx1">
                  <a:lumMod val="85000"/>
                  <a:lumOff val="15000"/>
                </a:schemeClr>
              </a:solidFill>
              <a:latin typeface="+mn-lt"/>
            </a:endParaRPr>
          </a:p>
          <a:p>
            <a:pPr>
              <a:lnSpc>
                <a:spcPct val="150000"/>
              </a:lnSpc>
              <a:spcBef>
                <a:spcPct val="0"/>
              </a:spcBef>
              <a:spcAft>
                <a:spcPct val="0"/>
              </a:spcAft>
            </a:pPr>
            <a:r>
              <a:rPr lang="en-IN" altLang="en-US" kern="0">
                <a:ln>
                  <a:noFill/>
                  <a:prstDash val="sysDot"/>
                </a:ln>
                <a:solidFill>
                  <a:schemeClr val="tx1">
                    <a:lumMod val="85000"/>
                    <a:lumOff val="15000"/>
                  </a:schemeClr>
                </a:solidFill>
                <a:latin typeface="+mn-lt"/>
              </a:rPr>
              <a:t>Numpy</a:t>
            </a:r>
            <a:endParaRPr lang="en-IN" altLang="en-US" kern="0">
              <a:ln>
                <a:noFill/>
                <a:prstDash val="sysDot"/>
              </a:ln>
              <a:solidFill>
                <a:schemeClr val="tx1">
                  <a:lumMod val="85000"/>
                  <a:lumOff val="15000"/>
                </a:schemeClr>
              </a:solidFill>
              <a:latin typeface="+mn-lt"/>
            </a:endParaRPr>
          </a:p>
          <a:p>
            <a:pPr>
              <a:lnSpc>
                <a:spcPct val="150000"/>
              </a:lnSpc>
              <a:spcBef>
                <a:spcPct val="0"/>
              </a:spcBef>
              <a:spcAft>
                <a:spcPct val="0"/>
              </a:spcAft>
            </a:pPr>
            <a:r>
              <a:rPr lang="en-IN" altLang="en-US" kern="0">
                <a:ln>
                  <a:noFill/>
                  <a:prstDash val="sysDot"/>
                </a:ln>
                <a:solidFill>
                  <a:schemeClr val="tx1">
                    <a:lumMod val="85000"/>
                    <a:lumOff val="15000"/>
                  </a:schemeClr>
                </a:solidFill>
                <a:latin typeface="+mn-lt"/>
              </a:rPr>
              <a:t>Matplotlib.pyplot</a:t>
            </a:r>
            <a:endParaRPr lang="en-US" kern="0">
              <a:ln>
                <a:noFill/>
                <a:prstDash val="sysDot"/>
              </a:ln>
              <a:solidFill>
                <a:schemeClr val="tx1">
                  <a:lumMod val="85000"/>
                  <a:lumOff val="15000"/>
                </a:schemeClr>
              </a:solidFill>
              <a:latin typeface="+mn-lt"/>
            </a:endParaRPr>
          </a:p>
          <a:p>
            <a:pPr>
              <a:lnSpc>
                <a:spcPct val="150000"/>
              </a:lnSpc>
              <a:spcBef>
                <a:spcPct val="0"/>
              </a:spcBef>
              <a:spcAft>
                <a:spcPct val="0"/>
              </a:spcAft>
            </a:pPr>
            <a:endParaRPr lang="en-IN">
              <a:sym typeface="+mn-ea"/>
            </a:endParaRPr>
          </a:p>
          <a:p>
            <a:pPr>
              <a:lnSpc>
                <a:spcPct val="150000"/>
              </a:lnSpc>
              <a:spcBef>
                <a:spcPct val="0"/>
              </a:spcBef>
              <a:spcAft>
                <a:spcPct val="0"/>
              </a:spcAft>
            </a:pPr>
            <a:endParaRPr>
              <a:sym typeface="+mn-ea"/>
            </a:endParaRPr>
          </a:p>
          <a:p>
            <a:pPr>
              <a:buFont typeface="Arial" panose="020B0604020202020204" pitchFamily="34" charset="0"/>
              <a:buChar char="•"/>
            </a:pPr>
            <a:endParaRPr lang="en-IN" altLang="en-US" dirty="0">
              <a:solidFill>
                <a:schemeClr val="accent4">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772795"/>
            <a:ext cx="8112125" cy="6605905"/>
          </a:xfrm>
          <a:prstGeom prst="rect">
            <a:avLst/>
          </a:prstGeom>
          <a:noFill/>
        </p:spPr>
        <p:txBody>
          <a:bodyPr wrap="square">
            <a:noAutofit/>
          </a:bodyPr>
          <a:lstStyle/>
          <a:p>
            <a:pPr>
              <a:buNone/>
            </a:pPr>
            <a:r>
              <a:rPr lang="fr-FR" b="1" u="sng" dirty="0">
                <a:solidFill>
                  <a:schemeClr val="tx1"/>
                </a:solidFill>
              </a:rPr>
              <a:t>Module Description</a:t>
            </a:r>
            <a:endParaRPr lang="fr-FR" b="1" u="sng" dirty="0">
              <a:solidFill>
                <a:schemeClr val="tx1"/>
              </a:solidFill>
            </a:endParaRPr>
          </a:p>
          <a:p>
            <a:pPr>
              <a:buNone/>
            </a:pPr>
            <a:endParaRPr lang="fr-FR" b="1" u="sng" dirty="0">
              <a:solidFill>
                <a:schemeClr val="tx1"/>
              </a:solidFill>
            </a:endParaRPr>
          </a:p>
          <a:p>
            <a:pPr>
              <a:lnSpc>
                <a:spcPct val="150000"/>
              </a:lnSpc>
              <a:spcBef>
                <a:spcPct val="0"/>
              </a:spcBef>
              <a:spcAft>
                <a:spcPct val="0"/>
              </a:spcAft>
            </a:pPr>
            <a:r>
              <a:rPr lang="en-US" sz="1600" b="1">
                <a:solidFill>
                  <a:schemeClr val="tx1">
                    <a:lumMod val="85000"/>
                    <a:lumOff val="15000"/>
                  </a:schemeClr>
                </a:solidFill>
                <a:sym typeface="+mn-ea"/>
              </a:rPr>
              <a:t>Module 1 – Data Collection:</a:t>
            </a:r>
            <a:endParaRPr lang="en-US" sz="1600" b="1">
              <a:solidFill>
                <a:schemeClr val="tx1">
                  <a:lumMod val="85000"/>
                  <a:lumOff val="15000"/>
                </a:schemeClr>
              </a:solidFill>
              <a:latin typeface="+mn-lt"/>
            </a:endParaRPr>
          </a:p>
          <a:p>
            <a:pPr>
              <a:lnSpc>
                <a:spcPct val="150000"/>
              </a:lnSpc>
              <a:spcBef>
                <a:spcPct val="0"/>
              </a:spcBef>
              <a:spcAft>
                <a:spcPct val="0"/>
              </a:spcAft>
            </a:pPr>
            <a:r>
              <a:rPr lang="en-US" altLang="en-US" sz="1600">
                <a:sym typeface="+mn-ea"/>
              </a:rPr>
              <a:t>Collecting COVID-19 data from reliable public sources such as government websites</a:t>
            </a:r>
            <a:r>
              <a:rPr lang="en-IN" altLang="en-US" sz="1600">
                <a:sym typeface="+mn-ea"/>
              </a:rPr>
              <a:t>.</a:t>
            </a:r>
            <a:r>
              <a:rPr lang="en-US" altLang="en-US" sz="1600">
                <a:sym typeface="+mn-ea"/>
              </a:rPr>
              <a:t> </a:t>
            </a:r>
            <a:endParaRPr lang="en-US" altLang="en-US" sz="1600">
              <a:sym typeface="+mn-ea"/>
            </a:endParaRPr>
          </a:p>
          <a:p>
            <a:pPr>
              <a:lnSpc>
                <a:spcPct val="150000"/>
              </a:lnSpc>
              <a:spcBef>
                <a:spcPct val="0"/>
              </a:spcBef>
              <a:spcAft>
                <a:spcPct val="0"/>
              </a:spcAft>
            </a:pPr>
            <a:endParaRPr lang="en-US" altLang="en-US">
              <a:sym typeface="+mn-ea"/>
            </a:endParaRPr>
          </a:p>
          <a:p>
            <a:pPr>
              <a:buFont typeface="Arial" panose="020B0604020202020204" pitchFamily="34" charset="0"/>
              <a:buChar char="•"/>
            </a:pPr>
            <a:r>
              <a:rPr lang="en-US" sz="1600" b="1">
                <a:solidFill>
                  <a:schemeClr val="tx1">
                    <a:lumMod val="85000"/>
                    <a:lumOff val="15000"/>
                  </a:schemeClr>
                </a:solidFill>
                <a:sym typeface="+mn-ea"/>
              </a:rPr>
              <a:t>Module 2 – Data Processing:</a:t>
            </a:r>
            <a:endParaRPr lang="en-US" sz="1600" b="1">
              <a:solidFill>
                <a:schemeClr val="tx1">
                  <a:lumMod val="85000"/>
                  <a:lumOff val="15000"/>
                </a:schemeClr>
              </a:solidFill>
              <a:latin typeface="+mn-lt"/>
            </a:endParaRPr>
          </a:p>
          <a:p>
            <a:pPr>
              <a:lnSpc>
                <a:spcPct val="150000"/>
              </a:lnSpc>
              <a:spcBef>
                <a:spcPct val="0"/>
              </a:spcBef>
              <a:spcAft>
                <a:spcPct val="0"/>
              </a:spcAft>
            </a:pPr>
            <a:r>
              <a:rPr lang="en-US" altLang="en-US" sz="1600">
                <a:solidFill>
                  <a:schemeClr val="tx1">
                    <a:lumMod val="85000"/>
                    <a:lumOff val="15000"/>
                  </a:schemeClr>
                </a:solidFill>
                <a:sym typeface="+mn-ea"/>
              </a:rPr>
              <a:t>This module focuses on cleaning, filtering, and organizing the collected COVID-19 data</a:t>
            </a:r>
            <a:r>
              <a:rPr lang="en-IN" altLang="en-US" sz="1600">
                <a:solidFill>
                  <a:schemeClr val="tx1">
                    <a:lumMod val="85000"/>
                    <a:lumOff val="15000"/>
                  </a:schemeClr>
                </a:solidFill>
                <a:sym typeface="+mn-ea"/>
              </a:rPr>
              <a:t>.</a:t>
            </a:r>
            <a:endParaRPr lang="en-IN" altLang="en-US" sz="1600">
              <a:solidFill>
                <a:schemeClr val="tx1">
                  <a:lumMod val="85000"/>
                  <a:lumOff val="15000"/>
                </a:schemeClr>
              </a:solidFill>
              <a:sym typeface="+mn-ea"/>
            </a:endParaRPr>
          </a:p>
          <a:p>
            <a:pPr>
              <a:lnSpc>
                <a:spcPct val="150000"/>
              </a:lnSpc>
              <a:spcBef>
                <a:spcPct val="0"/>
              </a:spcBef>
              <a:spcAft>
                <a:spcPct val="0"/>
              </a:spcAft>
            </a:pPr>
            <a:endParaRPr lang="en-US" altLang="en-US" sz="1600">
              <a:solidFill>
                <a:schemeClr val="tx1">
                  <a:lumMod val="85000"/>
                  <a:lumOff val="15000"/>
                </a:schemeClr>
              </a:solidFill>
              <a:sym typeface="+mn-ea"/>
            </a:endParaRPr>
          </a:p>
          <a:p>
            <a:pPr>
              <a:lnSpc>
                <a:spcPct val="150000"/>
              </a:lnSpc>
              <a:spcBef>
                <a:spcPct val="0"/>
              </a:spcBef>
              <a:spcAft>
                <a:spcPct val="0"/>
              </a:spcAft>
            </a:pPr>
            <a:r>
              <a:rPr lang="en-US" sz="1600" b="1">
                <a:solidFill>
                  <a:schemeClr val="tx1">
                    <a:lumMod val="85000"/>
                    <a:lumOff val="15000"/>
                  </a:schemeClr>
                </a:solidFill>
                <a:sym typeface="+mn-ea"/>
              </a:rPr>
              <a:t>Module 3 – Visualization &amp; AI Insights:</a:t>
            </a:r>
            <a:endParaRPr lang="en-US" sz="1600" b="1">
              <a:solidFill>
                <a:schemeClr val="tx1">
                  <a:lumMod val="85000"/>
                  <a:lumOff val="15000"/>
                </a:schemeClr>
              </a:solidFill>
              <a:latin typeface="+mn-lt"/>
            </a:endParaRPr>
          </a:p>
          <a:p>
            <a:pPr>
              <a:lnSpc>
                <a:spcPct val="150000"/>
              </a:lnSpc>
              <a:spcBef>
                <a:spcPct val="0"/>
              </a:spcBef>
              <a:spcAft>
                <a:spcPct val="0"/>
              </a:spcAft>
            </a:pPr>
            <a:r>
              <a:rPr lang="en-US" altLang="en-US" sz="1600">
                <a:solidFill>
                  <a:schemeClr val="tx1">
                    <a:lumMod val="85000"/>
                    <a:lumOff val="15000"/>
                  </a:schemeClr>
                </a:solidFill>
                <a:sym typeface="+mn-ea"/>
              </a:rPr>
              <a:t>This module focuses on creating interactive dashboards and visualizations using Power BI </a:t>
            </a:r>
            <a:endParaRPr lang="en-US" altLang="en-US" sz="1600">
              <a:solidFill>
                <a:schemeClr val="tx1">
                  <a:lumMod val="85000"/>
                  <a:lumOff val="15000"/>
                </a:schemeClr>
              </a:solidFill>
              <a:sym typeface="+mn-ea"/>
            </a:endParaRPr>
          </a:p>
          <a:p>
            <a:pPr>
              <a:lnSpc>
                <a:spcPct val="150000"/>
              </a:lnSpc>
              <a:spcBef>
                <a:spcPct val="0"/>
              </a:spcBef>
              <a:spcAft>
                <a:spcPct val="0"/>
              </a:spcAft>
            </a:pPr>
            <a:endParaRPr lang="fr-FR" sz="1600" dirty="0">
              <a:solidFill>
                <a:schemeClr val="accent4">
                  <a:lumMod val="50000"/>
                </a:schemeClr>
              </a:solidFill>
            </a:endParaRPr>
          </a:p>
          <a:p>
            <a:pPr>
              <a:lnSpc>
                <a:spcPct val="150000"/>
              </a:lnSpc>
              <a:spcBef>
                <a:spcPct val="0"/>
              </a:spcBef>
              <a:spcAft>
                <a:spcPct val="0"/>
              </a:spcAft>
            </a:pPr>
            <a:r>
              <a:rPr lang="en-IN" altLang="fr-FR" sz="1600" b="1" u="sng" dirty="0">
                <a:solidFill>
                  <a:schemeClr val="tx1"/>
                </a:solidFill>
              </a:rPr>
              <a:t>Users</a:t>
            </a:r>
            <a:endParaRPr lang="en-IN" altLang="fr-FR" sz="1600" b="1" u="sng" dirty="0">
              <a:solidFill>
                <a:schemeClr val="tx1"/>
              </a:solidFill>
            </a:endParaRPr>
          </a:p>
          <a:p>
            <a:pPr>
              <a:lnSpc>
                <a:spcPct val="150000"/>
              </a:lnSpc>
              <a:spcBef>
                <a:spcPct val="0"/>
              </a:spcBef>
              <a:spcAft>
                <a:spcPct val="0"/>
              </a:spcAft>
            </a:pPr>
            <a:r>
              <a:rPr lang="en-IN" altLang="fr-FR" sz="1600" dirty="0">
                <a:solidFill>
                  <a:schemeClr val="tx1"/>
                </a:solidFill>
              </a:rPr>
              <a:t>* Primary Users</a:t>
            </a:r>
            <a:endParaRPr lang="en-IN" altLang="fr-FR" sz="1600" dirty="0">
              <a:solidFill>
                <a:schemeClr val="tx1"/>
              </a:solidFill>
            </a:endParaRPr>
          </a:p>
          <a:p>
            <a:pPr>
              <a:lnSpc>
                <a:spcPct val="150000"/>
              </a:lnSpc>
              <a:spcBef>
                <a:spcPct val="0"/>
              </a:spcBef>
              <a:spcAft>
                <a:spcPct val="0"/>
              </a:spcAft>
            </a:pPr>
            <a:r>
              <a:rPr lang="en-IN" altLang="fr-FR" sz="1600" dirty="0">
                <a:solidFill>
                  <a:schemeClr val="tx1"/>
                </a:solidFill>
              </a:rPr>
              <a:t>* Secondary Users</a:t>
            </a:r>
            <a:endParaRPr lang="en-IN" altLang="fr-FR" sz="16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6875" y="367030"/>
            <a:ext cx="8054975" cy="6007100"/>
          </a:xfrm>
          <a:prstGeom prst="rect">
            <a:avLst/>
          </a:prstGeom>
          <a:noFill/>
        </p:spPr>
        <p:txBody>
          <a:bodyPr wrap="square">
            <a:noAutofit/>
          </a:bodyPr>
          <a:lstStyle/>
          <a:p>
            <a:pPr>
              <a:buNone/>
            </a:pPr>
            <a:r>
              <a:rPr lang="en-IN" altLang="en-US" b="1" dirty="0">
                <a:solidFill>
                  <a:schemeClr val="accent4">
                    <a:lumMod val="50000"/>
                  </a:schemeClr>
                </a:solidFill>
              </a:rPr>
              <a:t>         </a:t>
            </a:r>
            <a:r>
              <a:rPr lang="en-US" b="1" dirty="0">
                <a:solidFill>
                  <a:schemeClr val="accent4">
                    <a:lumMod val="50000"/>
                  </a:schemeClr>
                </a:solidFill>
              </a:rPr>
              <a:t> I</a:t>
            </a:r>
            <a:r>
              <a:rPr lang="en-US" b="1" u="sng" dirty="0">
                <a:solidFill>
                  <a:schemeClr val="tx1"/>
                </a:solidFill>
              </a:rPr>
              <a:t>mplementation Status</a:t>
            </a:r>
            <a:endParaRPr lang="en-US" b="1" dirty="0">
              <a:solidFill>
                <a:schemeClr val="accent4">
                  <a:lumMod val="50000"/>
                </a:schemeClr>
              </a:solidFill>
            </a:endParaRPr>
          </a:p>
          <a:p>
            <a:pPr>
              <a:buNone/>
            </a:pPr>
            <a:endParaRPr lang="en-US" b="1" dirty="0">
              <a:solidFill>
                <a:schemeClr val="accent4">
                  <a:lumMod val="50000"/>
                </a:schemeClr>
              </a:solidFill>
            </a:endParaRPr>
          </a:p>
          <a:p>
            <a:pPr>
              <a:buFont typeface="Arial" panose="020B0604020202020204" pitchFamily="34" charset="0"/>
              <a:buChar char="•"/>
            </a:pPr>
            <a:r>
              <a:rPr lang="en-US" dirty="0">
                <a:solidFill>
                  <a:schemeClr val="accent4">
                    <a:lumMod val="50000"/>
                  </a:schemeClr>
                </a:solidFill>
              </a:rPr>
              <a:t>Completed modules</a:t>
            </a:r>
            <a:endParaRPr lang="en-US" dirty="0">
              <a:solidFill>
                <a:schemeClr val="accent4">
                  <a:lumMod val="50000"/>
                </a:schemeClr>
              </a:solidFill>
            </a:endParaRPr>
          </a:p>
          <a:p>
            <a:pPr>
              <a:lnSpc>
                <a:spcPct val="150000"/>
              </a:lnSpc>
              <a:spcBef>
                <a:spcPct val="0"/>
              </a:spcBef>
              <a:spcAft>
                <a:spcPct val="0"/>
              </a:spcAft>
            </a:pPr>
            <a:r>
              <a:rPr lang="en-US" dirty="0">
                <a:solidFill>
                  <a:schemeClr val="tx1">
                    <a:lumMod val="85000"/>
                    <a:lumOff val="15000"/>
                  </a:schemeClr>
                </a:solidFill>
                <a:sym typeface="+mn-ea"/>
              </a:rPr>
              <a:t>Data collection</a:t>
            </a:r>
            <a:endParaRPr lang="en-US" dirty="0">
              <a:solidFill>
                <a:schemeClr val="tx1">
                  <a:lumMod val="85000"/>
                  <a:lumOff val="15000"/>
                </a:schemeClr>
              </a:solidFill>
              <a:latin typeface="+mn-lt"/>
            </a:endParaRPr>
          </a:p>
          <a:p>
            <a:pPr>
              <a:lnSpc>
                <a:spcPct val="150000"/>
              </a:lnSpc>
              <a:spcBef>
                <a:spcPct val="0"/>
              </a:spcBef>
              <a:spcAft>
                <a:spcPct val="0"/>
              </a:spcAft>
            </a:pPr>
            <a:r>
              <a:rPr lang="en-US" dirty="0">
                <a:solidFill>
                  <a:schemeClr val="tx1">
                    <a:lumMod val="85000"/>
                    <a:lumOff val="15000"/>
                  </a:schemeClr>
                </a:solidFill>
                <a:sym typeface="+mn-ea"/>
              </a:rPr>
              <a:t>• Data preprocessing</a:t>
            </a:r>
            <a:endParaRPr lang="en-US" dirty="0">
              <a:solidFill>
                <a:schemeClr val="tx1">
                  <a:lumMod val="85000"/>
                  <a:lumOff val="15000"/>
                </a:schemeClr>
              </a:solidFill>
              <a:latin typeface="+mn-lt"/>
            </a:endParaRPr>
          </a:p>
          <a:p>
            <a:pPr>
              <a:lnSpc>
                <a:spcPct val="150000"/>
              </a:lnSpc>
              <a:spcBef>
                <a:spcPct val="0"/>
              </a:spcBef>
              <a:spcAft>
                <a:spcPct val="0"/>
              </a:spcAft>
            </a:pPr>
            <a:r>
              <a:rPr lang="en-US" dirty="0">
                <a:solidFill>
                  <a:schemeClr val="tx1">
                    <a:lumMod val="85000"/>
                    <a:lumOff val="15000"/>
                  </a:schemeClr>
                </a:solidFill>
                <a:sym typeface="+mn-ea"/>
              </a:rPr>
              <a:t>• Dashboard creation</a:t>
            </a:r>
            <a:r>
              <a:rPr lang="en-IN" altLang="en-US" dirty="0">
                <a:solidFill>
                  <a:schemeClr val="tx1">
                    <a:lumMod val="85000"/>
                    <a:lumOff val="15000"/>
                  </a:schemeClr>
                </a:solidFill>
                <a:sym typeface="+mn-ea"/>
              </a:rPr>
              <a:t> (60%-70%)</a:t>
            </a:r>
            <a:endParaRPr lang="en-US" dirty="0">
              <a:solidFill>
                <a:schemeClr val="tx1">
                  <a:lumMod val="85000"/>
                  <a:lumOff val="15000"/>
                </a:schemeClr>
              </a:solidFill>
              <a:sym typeface="+mn-ea"/>
            </a:endParaRPr>
          </a:p>
          <a:p>
            <a:pPr>
              <a:lnSpc>
                <a:spcPct val="150000"/>
              </a:lnSpc>
              <a:spcBef>
                <a:spcPct val="0"/>
              </a:spcBef>
              <a:spcAft>
                <a:spcPct val="0"/>
              </a:spcAft>
            </a:pPr>
            <a:endParaRPr lang="en-US" dirty="0">
              <a:solidFill>
                <a:schemeClr val="accent4">
                  <a:lumMod val="50000"/>
                </a:schemeClr>
              </a:solidFill>
            </a:endParaRPr>
          </a:p>
        </p:txBody>
      </p:sp>
      <p:pic>
        <p:nvPicPr>
          <p:cNvPr id="2" name="Picture 1"/>
          <p:cNvPicPr>
            <a:picLocks noChangeAspect="1"/>
          </p:cNvPicPr>
          <p:nvPr/>
        </p:nvPicPr>
        <p:blipFill>
          <a:blip r:embed="rId1"/>
          <a:stretch>
            <a:fillRect/>
          </a:stretch>
        </p:blipFill>
        <p:spPr>
          <a:xfrm>
            <a:off x="396875" y="2865755"/>
            <a:ext cx="8069580" cy="35083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2515" y="1748155"/>
            <a:ext cx="7305675" cy="4140200"/>
          </a:xfrm>
          <a:prstGeom prst="rect">
            <a:avLst/>
          </a:prstGeom>
          <a:noFill/>
        </p:spPr>
        <p:txBody>
          <a:bodyPr wrap="square">
            <a:noAutofit/>
          </a:bodyPr>
          <a:lstStyle/>
          <a:p>
            <a:pPr>
              <a:buNone/>
            </a:pPr>
            <a:r>
              <a:rPr lang="en-US" b="1" u="sng" dirty="0">
                <a:solidFill>
                  <a:schemeClr val="tx1"/>
                </a:solidFill>
              </a:rPr>
              <a:t>Conclusion</a:t>
            </a:r>
            <a:endParaRPr lang="en-US" b="1" u="sng" dirty="0">
              <a:solidFill>
                <a:schemeClr val="tx1"/>
              </a:solidFill>
            </a:endParaRPr>
          </a:p>
          <a:p>
            <a:pPr>
              <a:buNone/>
            </a:pPr>
            <a:endParaRPr lang="en-US" b="1" u="sng" dirty="0">
              <a:solidFill>
                <a:schemeClr val="tx1"/>
              </a:solidFill>
            </a:endParaRPr>
          </a:p>
          <a:p>
            <a:pPr>
              <a:buNone/>
            </a:pPr>
            <a:r>
              <a:rPr lang="en-IN" altLang="en-US" sz="1600" b="1" u="sng" dirty="0">
                <a:solidFill>
                  <a:schemeClr val="tx1"/>
                </a:solidFill>
              </a:rPr>
              <a:t>SUMMARY:</a:t>
            </a:r>
            <a:endParaRPr lang="en-US" sz="1600" b="1" u="sng" dirty="0">
              <a:solidFill>
                <a:schemeClr val="tx1"/>
              </a:solidFill>
            </a:endParaRPr>
          </a:p>
          <a:p>
            <a:pPr>
              <a:buNone/>
            </a:pPr>
            <a:endParaRPr lang="en-US" b="1" dirty="0">
              <a:solidFill>
                <a:schemeClr val="accent4">
                  <a:lumMod val="50000"/>
                </a:schemeClr>
              </a:solidFill>
            </a:endParaRPr>
          </a:p>
          <a:p>
            <a:pPr algn="just">
              <a:buFont typeface="Arial" panose="020B0604020202020204" pitchFamily="34" charset="0"/>
              <a:buChar char="•"/>
            </a:pPr>
            <a:r>
              <a:rPr lang="en-US" altLang="en-US">
                <a:sym typeface="+mn-ea"/>
              </a:rPr>
              <a:t>The project successfully converts complex COVID-19 data into meaningful and easy-to-understand visual insights. By using AI-enhanced visualization techniques, the system improves data analysis and helps users identify trends and patterns more effectively. </a:t>
            </a:r>
            <a:endParaRPr lang="en-US" dirty="0">
              <a:solidFill>
                <a:schemeClr val="accent4">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0BCEE312-D377-4697-A13B-02932CBFB11D}" type="datetime1">
              <a:rPr lang="en-US" smtClean="0">
                <a:solidFill>
                  <a:prstClr val="black">
                    <a:tint val="75000"/>
                  </a:prstClr>
                </a:solidFill>
              </a:rPr>
            </a:fld>
            <a:endParaRPr lang="en-US">
              <a:solidFill>
                <a:prstClr val="black">
                  <a:tint val="75000"/>
                </a:prstClr>
              </a:solidFill>
            </a:endParaRPr>
          </a:p>
        </p:txBody>
      </p:sp>
      <p:sp>
        <p:nvSpPr>
          <p:cNvPr id="8" name="Slide Number Placeholder 7"/>
          <p:cNvSpPr>
            <a:spLocks noGrp="1"/>
          </p:cNvSpPr>
          <p:nvPr>
            <p:ph type="sldNum" sz="quarter" idx="12"/>
          </p:nvPr>
        </p:nvSpPr>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
        <p:nvSpPr>
          <p:cNvPr id="2" name="Text Box 1"/>
          <p:cNvSpPr txBox="1"/>
          <p:nvPr/>
        </p:nvSpPr>
        <p:spPr>
          <a:xfrm>
            <a:off x="2590800" y="3048000"/>
            <a:ext cx="4197985" cy="829945"/>
          </a:xfrm>
          <a:prstGeom prst="rect">
            <a:avLst/>
          </a:prstGeom>
          <a:noFill/>
        </p:spPr>
        <p:txBody>
          <a:bodyPr wrap="square" rtlCol="0">
            <a:spAutoFit/>
          </a:bodyPr>
          <a:p>
            <a:pPr algn="ctr"/>
            <a:r>
              <a:rPr lang="en-IN" altLang="en-US" sz="4800"/>
              <a:t>THANK YOU</a:t>
            </a:r>
            <a:endParaRPr lang="en-IN" altLang="en-US" sz="4800"/>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2624</Words>
  <Application>WPS Presentation</Application>
  <PresentationFormat>On-screen Show (4:3)</PresentationFormat>
  <Paragraphs>109</Paragraphs>
  <Slides>11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Calibri</vt:lpstr>
      <vt:lpstr>Poppins</vt:lpstr>
      <vt:lpstr>Segoe Print</vt:lpstr>
      <vt:lpstr>Times New Roman</vt:lpstr>
      <vt:lpstr>Microsoft YaHei</vt:lpstr>
      <vt:lpstr>Arial Unicode MS</vt:lpstr>
      <vt:lpstr>Calibri</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Gorantla Naveen Gorantla Navee</cp:lastModifiedBy>
  <cp:revision>161</cp:revision>
  <dcterms:created xsi:type="dcterms:W3CDTF">2023-01-22T02:22:00Z</dcterms:created>
  <dcterms:modified xsi:type="dcterms:W3CDTF">2026-02-14T05:31:33Z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0F02CFE1C5B6480C97D7EC2400FD913B_12</vt:lpwstr>
  </property>
  <property fmtid="{D5CDD505-2E9C-101B-9397-08002B2CF9AE}" pid="3" name="KSOProductBuildVer">
    <vt:lpwstr>1033-12.2.0.23196</vt:lpwstr>
  </property>
</Properties>
</file>