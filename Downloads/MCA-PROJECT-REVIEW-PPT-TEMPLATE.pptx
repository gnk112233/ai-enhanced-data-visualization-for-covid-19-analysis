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4"/>
  </p:handoutMasterIdLst>
  <p:sldIdLst>
    <p:sldId id="271" r:id="rId3"/>
    <p:sldId id="305" r:id="rId5"/>
    <p:sldId id="306" r:id="rId6"/>
    <p:sldId id="307" r:id="rId7"/>
    <p:sldId id="308" r:id="rId8"/>
    <p:sldId id="309" r:id="rId9"/>
    <p:sldId id="310" r:id="rId10"/>
    <p:sldId id="311" r:id="rId11"/>
    <p:sldId id="312" r:id="rId12"/>
    <p:sldId id="304"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5F96779-8682-4CD9-90C2-D7A49281830D}">
          <p14:sldIdLst>
            <p14:sldId id="271"/>
            <p14:sldId id="305"/>
            <p14:sldId id="306"/>
            <p14:sldId id="307"/>
            <p14:sldId id="308"/>
            <p14:sldId id="309"/>
            <p14:sldId id="310"/>
            <p14:sldId id="311"/>
            <p14:sldId id="312"/>
          </p14:sldIdLst>
        </p14:section>
        <p14:section name="Untitled Section" id="{18D748A1-B9CB-40AB-9130-D732C7E4D7E9}">
          <p14:sldIdLst>
            <p14:sldId id="304"/>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0DD8ACB-2480-836F-8513-F809A1C233EF}" name="Abraham Dinakaran J" initials="ADJ" userId="S::adinakaran@kluniversity.in::a265c4b0-0b4d-41cc-8169-c05df22ffe7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microsoft.com/office/2018/10/relationships/authors" Targe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62FC287-3538-4997-9970-44BF1FF30DD5}" type="datetime1">
              <a:rPr lang="en-IN"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1FDA32-7B86-4AE0-9240-7E2DEEC04CE4}" type="slidenum">
              <a:rPr lang="en-US" smtClean="0"/>
            </a:fld>
            <a:endParaRPr lang="en-US"/>
          </a:p>
        </p:txBody>
      </p:sp>
    </p:spTree>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1657D-0517-4C9F-B58C-7229AAFEBC31}" type="datetime1">
              <a:rPr lang="en-IN" smtClean="0"/>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A71A4B-7F78-4497-A7BB-B19313066BC2}" type="slidenum">
              <a:rPr lang="en-IN" smtClean="0"/>
            </a:fld>
            <a:endParaRPr lang="en-IN"/>
          </a:p>
        </p:txBody>
      </p:sp>
    </p:spTree>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p:cNvSpPr>
            <a:spLocks noGrp="1"/>
          </p:cNvSpPr>
          <p:nvPr>
            <p:ph type="dt" idx="1"/>
          </p:nvPr>
        </p:nvSpPr>
        <p:spPr/>
        <p:txBody>
          <a:bodyPr/>
          <a:lstStyle/>
          <a:p>
            <a:fld id="{3E581EE8-6511-46D3-8A2A-80CFF2C8D0A3}" type="datetime1">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endParaRPr lang="en-US"/>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a:p>
        </p:txBody>
      </p:sp>
      <p:sp>
        <p:nvSpPr>
          <p:cNvPr id="4" name="Date Placeholder 3"/>
          <p:cNvSpPr>
            <a:spLocks noGrp="1"/>
          </p:cNvSpPr>
          <p:nvPr>
            <p:ph type="dt" sz="half" idx="10"/>
          </p:nvPr>
        </p:nvSpPr>
        <p:spPr>
          <a:xfrm>
            <a:off x="990600" y="6526385"/>
            <a:ext cx="1200150" cy="266702"/>
          </a:xfrm>
          <a:prstGeom prst="rect">
            <a:avLst/>
          </a:prstGeom>
        </p:spPr>
        <p:txBody>
          <a:bodyPr/>
          <a:lstStyle>
            <a:lvl1pPr>
              <a:defRPr sz="900"/>
            </a:lvl1pPr>
          </a:lstStyle>
          <a:p>
            <a:fld id="{8453BCF2-CB48-4BA2-A036-8950CD1C6A93}" type="datetime1">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a:xfrm>
            <a:off x="5943600" y="642796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4191000" y="6535592"/>
            <a:ext cx="457200" cy="266701"/>
          </a:xfrm>
          <a:prstGeom prst="rect">
            <a:avLst/>
          </a:prstGeom>
        </p:spPr>
        <p:txBody>
          <a:bodyPr/>
          <a:lstStyle>
            <a:lvl1pPr>
              <a:defRPr sz="900"/>
            </a:lvl1pPr>
          </a:lstStyle>
          <a:p>
            <a:fld id="{B3561BA9-CDCF-4958-B8AB-66F3BF063E1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6492875"/>
            <a:ext cx="1123950" cy="267280"/>
          </a:xfrm>
          <a:prstGeom prst="rect">
            <a:avLst/>
          </a:prstGeom>
        </p:spPr>
        <p:txBody>
          <a:bodyPr/>
          <a:lstStyle>
            <a:lvl1pPr>
              <a:defRPr sz="900"/>
            </a:lvl1pPr>
          </a:lstStyle>
          <a:p>
            <a:fld id="{F0926A81-3A46-4B7B-A2F8-E2A558D9191F}" type="datetime1">
              <a:rPr lang="en-US" smtClean="0">
                <a:solidFill>
                  <a:prstClr val="black">
                    <a:tint val="75000"/>
                  </a:prstClr>
                </a:solidFill>
              </a:rPr>
            </a:fld>
            <a:endParaRPr lang="en-US" dirty="0">
              <a:solidFill>
                <a:prstClr val="black">
                  <a:tint val="75000"/>
                </a:prstClr>
              </a:solidFill>
            </a:endParaRPr>
          </a:p>
        </p:txBody>
      </p:sp>
      <p:sp>
        <p:nvSpPr>
          <p:cNvPr id="6" name="Slide Number Placeholder 5"/>
          <p:cNvSpPr>
            <a:spLocks noGrp="1"/>
          </p:cNvSpPr>
          <p:nvPr>
            <p:ph type="sldNum" sz="quarter" idx="12"/>
          </p:nvPr>
        </p:nvSpPr>
        <p:spPr>
          <a:xfrm>
            <a:off x="3962400" y="6492875"/>
            <a:ext cx="2057400" cy="365125"/>
          </a:xfrm>
          <a:prstGeom prst="rect">
            <a:avLst/>
          </a:prstGeom>
        </p:spPr>
        <p:txBody>
          <a:bodyPr/>
          <a:lstStyle>
            <a:lvl1pPr>
              <a:defRPr sz="900"/>
            </a:lvl1pPr>
          </a:lstStyle>
          <a:p>
            <a:fld id="{B3561BA9-CDCF-4958-B8AB-66F3BF063E1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endParaRPr lang="en-US"/>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7497C174-5A51-4D18-8F67-D9F14D2F34C3}"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1CE59E2F-5892-435A-AE19-CDF7821064E4}" type="datetime1">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BEFAB2A4-D3CE-4715-B935-416579E77195}" type="datetime1">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AB65A450-9487-4E64-AB52-9E7DA1C37762}" type="datetime1">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6C014150-8307-4D3C-BBBB-0734CBD939B0}" type="datetime1">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endParaRPr lang="en-US"/>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endParaRPr lang="en-US"/>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7D880DA0-68D9-4E75-BA39-DC1403DEB0D4}" type="datetime1">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4B4E1A77-28DA-48C1-B06D-78B5B0A2C0A2}"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28650" y="365125"/>
            <a:ext cx="7886700" cy="58118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296EF5A3-7886-44C2-92BF-298F6F904133}" type="datetime1">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matchingName="Title and Content">
  <p:cSld name="1_Title and Content">
    <p:spTree>
      <p:nvGrpSpPr>
        <p:cNvPr id="1" name="Shape 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jpeg"/><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sp>
        <p:nvSpPr>
          <p:cNvPr id="2" name="Rectangle 1"/>
          <p:cNvSpPr/>
          <p:nvPr userDrawn="1"/>
        </p:nvSpPr>
        <p:spPr>
          <a:xfrm>
            <a:off x="0" y="6812282"/>
            <a:ext cx="9144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p:cNvSpPr/>
          <p:nvPr userDrawn="1"/>
        </p:nvSpPr>
        <p:spPr>
          <a:xfrm>
            <a:off x="0" y="1"/>
            <a:ext cx="9144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Background pattern&#10;&#10;Description automatically generated"/>
          <p:cNvPicPr>
            <a:picLocks noChangeAspect="1"/>
          </p:cNvPicPr>
          <p:nvPr userDrawn="1"/>
        </p:nvPicPr>
        <p:blipFill rotWithShape="1">
          <a:blip r:embed="rId12">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4419600" y="3179470"/>
            <a:ext cx="4648200" cy="3588778"/>
          </a:xfrm>
          <a:prstGeom prst="rect">
            <a:avLst/>
          </a:prstGeom>
        </p:spPr>
      </p:pic>
      <p:sp>
        <p:nvSpPr>
          <p:cNvPr id="7" name="TextBox 6"/>
          <p:cNvSpPr txBox="1"/>
          <p:nvPr userDrawn="1"/>
        </p:nvSpPr>
        <p:spPr>
          <a:xfrm>
            <a:off x="1" y="6602979"/>
            <a:ext cx="1599051" cy="184666"/>
          </a:xfrm>
          <a:prstGeom prst="rect">
            <a:avLst/>
          </a:prstGeom>
          <a:noFill/>
        </p:spPr>
        <p:txBody>
          <a:bodyPr wrap="square" rtlCol="0">
            <a:spAutoFit/>
          </a:bodyPr>
          <a:lstStyle/>
          <a:p>
            <a:r>
              <a:rPr lang="en-US" sz="600">
                <a:solidFill>
                  <a:schemeClr val="bg1">
                    <a:lumMod val="95000"/>
                  </a:schemeClr>
                </a:solidFill>
              </a:rPr>
              <a:t>CREATED BY K. VICTOR BABU</a:t>
            </a:r>
            <a:endParaRPr lang="en-US" sz="600">
              <a:solidFill>
                <a:schemeClr val="bg1">
                  <a:lumMod val="95000"/>
                </a:schemeClr>
              </a:solidFill>
            </a:endParaRPr>
          </a:p>
        </p:txBody>
      </p:sp>
      <p:pic>
        <p:nvPicPr>
          <p:cNvPr id="4" name="Picture 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45720"/>
            <a:ext cx="838201" cy="792479"/>
          </a:xfrm>
          <a:prstGeom prst="rect">
            <a:avLst/>
          </a:prstGeom>
        </p:spPr>
      </p:pic>
      <p:pic>
        <p:nvPicPr>
          <p:cNvPr id="13" name="Picture 12"/>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6710196" y="6400799"/>
            <a:ext cx="2331280" cy="343587"/>
          </a:xfrm>
          <a:prstGeom prst="rect">
            <a:avLst/>
          </a:prstGeom>
        </p:spPr>
      </p:pic>
      <p:pic>
        <p:nvPicPr>
          <p:cNvPr id="16" name="Picture 15"/>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227828" y="228600"/>
            <a:ext cx="458972" cy="45636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19" name="Rectangle: Rounded Corners 18"/>
          <p:cNvSpPr/>
          <p:nvPr/>
        </p:nvSpPr>
        <p:spPr>
          <a:xfrm>
            <a:off x="3124200" y="1115413"/>
            <a:ext cx="3364748" cy="431074"/>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475" name="Google Shape;475;p16"/>
          <p:cNvSpPr txBox="1"/>
          <p:nvPr/>
        </p:nvSpPr>
        <p:spPr>
          <a:xfrm>
            <a:off x="2492519" y="1051115"/>
            <a:ext cx="4382085" cy="530884"/>
          </a:xfrm>
          <a:prstGeom prst="rect">
            <a:avLst/>
          </a:prstGeom>
          <a:noFill/>
          <a:ln>
            <a:noFill/>
          </a:ln>
          <a:effectLst/>
        </p:spPr>
        <p:txBody>
          <a:bodyPr spcFirstLastPara="1" wrap="square" lIns="68569" tIns="34275" rIns="68569" bIns="34275" anchor="t" anchorCtr="0">
            <a:spAutoFit/>
          </a:bodyPr>
          <a:lstStyle/>
          <a:p>
            <a:pPr algn="ctr" defTabSz="685800"/>
            <a:r>
              <a:rPr lang="en-US" sz="3000" dirty="0">
                <a:solidFill>
                  <a:srgbClr val="C00000"/>
                </a:solidFill>
                <a:latin typeface="Calibri" panose="020F0502020204030204"/>
                <a:cs typeface="Poppins" pitchFamily="2" charset="77"/>
              </a:rPr>
              <a:t>  Department of MCA</a:t>
            </a:r>
            <a:endParaRPr lang="en-US" sz="3000" dirty="0">
              <a:solidFill>
                <a:srgbClr val="C00000"/>
              </a:solidFill>
              <a:latin typeface="Calibri" panose="020F0502020204030204"/>
              <a:cs typeface="Poppins" pitchFamily="2" charset="77"/>
            </a:endParaRPr>
          </a:p>
        </p:txBody>
      </p:sp>
      <p:sp>
        <p:nvSpPr>
          <p:cNvPr id="4" name="TextBox 3"/>
          <p:cNvSpPr txBox="1"/>
          <p:nvPr/>
        </p:nvSpPr>
        <p:spPr>
          <a:xfrm>
            <a:off x="2492375" y="2057400"/>
            <a:ext cx="6434455" cy="1938020"/>
          </a:xfrm>
          <a:prstGeom prst="rect">
            <a:avLst/>
          </a:prstGeom>
          <a:noFill/>
        </p:spPr>
        <p:txBody>
          <a:bodyPr wrap="square">
            <a:spAutoFit/>
          </a:bodyPr>
          <a:lstStyle/>
          <a:p>
            <a:r>
              <a:rPr lang="en-US" sz="2400" dirty="0">
                <a:solidFill>
                  <a:schemeClr val="accent4">
                    <a:lumMod val="50000"/>
                  </a:schemeClr>
                </a:solidFill>
                <a:latin typeface="Times New Roman" panose="02020603050405020304" pitchFamily="18" charset="0"/>
                <a:cs typeface="Times New Roman" panose="02020603050405020304" pitchFamily="18" charset="0"/>
              </a:rPr>
              <a:t>Slide 1:</a:t>
            </a:r>
            <a:r>
              <a:rPr lang="en-IN" altLang="en-US" sz="2400" dirty="0">
                <a:solidFill>
                  <a:schemeClr val="accent4">
                    <a:lumMod val="50000"/>
                  </a:schemeClr>
                </a:solidFill>
                <a:latin typeface="Times New Roman" panose="02020603050405020304" pitchFamily="18" charset="0"/>
                <a:cs typeface="Times New Roman" panose="02020603050405020304" pitchFamily="18" charset="0"/>
              </a:rPr>
              <a:t>Title</a:t>
            </a:r>
            <a:br>
              <a:rPr lang="en-US" sz="2400" dirty="0">
                <a:solidFill>
                  <a:schemeClr val="accent4">
                    <a:lumMod val="50000"/>
                  </a:schemeClr>
                </a:solidFill>
                <a:latin typeface="Times New Roman" panose="02020603050405020304" pitchFamily="18" charset="0"/>
                <a:cs typeface="Times New Roman" panose="02020603050405020304" pitchFamily="18" charset="0"/>
              </a:rPr>
            </a:br>
            <a:r>
              <a:rPr lang="en-US" sz="2400" dirty="0">
                <a:solidFill>
                  <a:srgbClr val="FFC000"/>
                </a:solidFill>
                <a:sym typeface="+mn-ea"/>
              </a:rPr>
              <a:t>AI-Enhanced Data Visualization for COVID-19 Analysis</a:t>
            </a:r>
            <a:endParaRPr lang="en-US" sz="2400" spc="0" dirty="0">
              <a:solidFill>
                <a:schemeClr val="lt1">
                  <a:lumMod val="100000"/>
                </a:schemeClr>
              </a:solidFill>
              <a:sym typeface="+mn-ea"/>
            </a:endParaRPr>
          </a:p>
          <a:p>
            <a:endParaRPr lang="en-US" sz="2400" dirty="0">
              <a:solidFill>
                <a:schemeClr val="accent4">
                  <a:lumMod val="50000"/>
                </a:schemeClr>
              </a:solidFill>
              <a:latin typeface="Times New Roman" panose="02020603050405020304" pitchFamily="18" charset="0"/>
              <a:cs typeface="Times New Roman" panose="02020603050405020304" pitchFamily="18" charset="0"/>
            </a:endParaRPr>
          </a:p>
          <a:p>
            <a:r>
              <a:rPr lang="en-US" sz="2400" dirty="0">
                <a:solidFill>
                  <a:schemeClr val="accent4">
                    <a:lumMod val="50000"/>
                  </a:schemeClr>
                </a:solidFill>
                <a:latin typeface="Times New Roman" panose="02020603050405020304" pitchFamily="18" charset="0"/>
                <a:cs typeface="Times New Roman" panose="02020603050405020304" pitchFamily="18" charset="0"/>
              </a:rPr>
              <a:t>Under the Guidance of </a:t>
            </a:r>
            <a:r>
              <a:rPr lang="en-IN" altLang="en-US" sz="2400" dirty="0">
                <a:solidFill>
                  <a:schemeClr val="accent4">
                    <a:lumMod val="50000"/>
                  </a:schemeClr>
                </a:solidFill>
                <a:latin typeface="Times New Roman" panose="02020603050405020304" pitchFamily="18" charset="0"/>
                <a:cs typeface="Times New Roman" panose="02020603050405020304" pitchFamily="18" charset="0"/>
              </a:rPr>
              <a:t>:</a:t>
            </a:r>
            <a:r>
              <a:rPr lang="en-US" sz="2400" dirty="0">
                <a:solidFill>
                  <a:schemeClr val="accent4">
                    <a:lumMod val="50000"/>
                  </a:schemeClr>
                </a:solidFill>
                <a:latin typeface="Times New Roman" panose="02020603050405020304" pitchFamily="18" charset="0"/>
                <a:cs typeface="Times New Roman" panose="02020603050405020304" pitchFamily="18" charset="0"/>
              </a:rPr>
              <a:t> Dr</a:t>
            </a:r>
            <a:r>
              <a:rPr lang="en-IN" altLang="en-US" sz="2400" dirty="0">
                <a:solidFill>
                  <a:schemeClr val="accent4">
                    <a:lumMod val="50000"/>
                  </a:schemeClr>
                </a:solidFill>
                <a:latin typeface="Times New Roman" panose="02020603050405020304" pitchFamily="18" charset="0"/>
                <a:cs typeface="Times New Roman" panose="02020603050405020304" pitchFamily="18" charset="0"/>
              </a:rPr>
              <a:t>.Kalimuthu Sir</a:t>
            </a:r>
            <a:endParaRPr lang="en-IN" altLang="en-US" sz="2400"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5715000" y="4506595"/>
            <a:ext cx="3360420" cy="1476375"/>
          </a:xfrm>
          <a:prstGeom prst="rect">
            <a:avLst/>
          </a:prstGeom>
          <a:noFill/>
        </p:spPr>
        <p:txBody>
          <a:bodyPr wrap="square">
            <a:spAutoFit/>
          </a:bodyPr>
          <a:lstStyle/>
          <a:p>
            <a:r>
              <a:rPr lang="en-US" dirty="0">
                <a:solidFill>
                  <a:schemeClr val="accent1">
                    <a:lumMod val="50000"/>
                  </a:schemeClr>
                </a:solidFill>
              </a:rPr>
              <a:t>By :</a:t>
            </a:r>
            <a:endParaRPr lang="en-US" dirty="0">
              <a:solidFill>
                <a:schemeClr val="accent1">
                  <a:lumMod val="50000"/>
                </a:schemeClr>
              </a:solidFill>
            </a:endParaRPr>
          </a:p>
          <a:p>
            <a:r>
              <a:rPr lang="en-US" dirty="0">
                <a:solidFill>
                  <a:schemeClr val="accent1">
                    <a:lumMod val="50000"/>
                  </a:schemeClr>
                </a:solidFill>
              </a:rPr>
              <a:t>Student Name</a:t>
            </a:r>
            <a:r>
              <a:rPr lang="en-IN" altLang="en-US" dirty="0">
                <a:solidFill>
                  <a:schemeClr val="accent1">
                    <a:lumMod val="50000"/>
                  </a:schemeClr>
                </a:solidFill>
              </a:rPr>
              <a:t>:Gorantla Naveen</a:t>
            </a:r>
            <a:endParaRPr lang="en-US" dirty="0">
              <a:solidFill>
                <a:schemeClr val="accent1">
                  <a:lumMod val="50000"/>
                </a:schemeClr>
              </a:solidFill>
            </a:endParaRPr>
          </a:p>
          <a:p>
            <a:r>
              <a:rPr lang="en-US" dirty="0">
                <a:solidFill>
                  <a:schemeClr val="accent1">
                    <a:lumMod val="50000"/>
                  </a:schemeClr>
                </a:solidFill>
              </a:rPr>
              <a:t>Roll No</a:t>
            </a:r>
            <a:r>
              <a:rPr lang="en-IN" altLang="en-US" dirty="0">
                <a:solidFill>
                  <a:schemeClr val="accent1">
                    <a:lumMod val="50000"/>
                  </a:schemeClr>
                </a:solidFill>
              </a:rPr>
              <a:t>:2401600196</a:t>
            </a:r>
            <a:endParaRPr lang="en-US" dirty="0">
              <a:solidFill>
                <a:schemeClr val="accent1">
                  <a:lumMod val="50000"/>
                </a:schemeClr>
              </a:solidFill>
            </a:endParaRPr>
          </a:p>
          <a:p>
            <a:r>
              <a:rPr lang="en-US" dirty="0">
                <a:solidFill>
                  <a:schemeClr val="accent1">
                    <a:lumMod val="50000"/>
                  </a:schemeClr>
                </a:solidFill>
              </a:rPr>
              <a:t>Dept. of MCA.</a:t>
            </a:r>
            <a:br>
              <a:rPr lang="en-US" dirty="0">
                <a:solidFill>
                  <a:schemeClr val="accent1">
                    <a:lumMod val="50000"/>
                  </a:schemeClr>
                </a:solidFill>
              </a:rPr>
            </a:br>
            <a:r>
              <a:rPr lang="en-US" dirty="0">
                <a:solidFill>
                  <a:schemeClr val="accent1">
                    <a:lumMod val="50000"/>
                  </a:schemeClr>
                </a:solidFill>
              </a:rPr>
              <a:t>KL University.</a:t>
            </a:r>
            <a:endParaRPr lang="en-US" dirty="0">
              <a:solidFill>
                <a:schemeClr val="accent1">
                  <a:lumMod val="50000"/>
                </a:schemeClr>
              </a:solidFill>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47470" y="1050925"/>
            <a:ext cx="7125335" cy="4326255"/>
          </a:xfrm>
          <a:prstGeom prst="rect">
            <a:avLst/>
          </a:prstGeom>
          <a:noFill/>
        </p:spPr>
        <p:txBody>
          <a:bodyPr wrap="square">
            <a:noAutofit/>
          </a:bodyPr>
          <a:lstStyle/>
          <a:p>
            <a:r>
              <a:rPr lang="en-US" dirty="0">
                <a:solidFill>
                  <a:schemeClr val="accent4">
                    <a:lumMod val="50000"/>
                  </a:schemeClr>
                </a:solidFill>
              </a:rPr>
              <a:t>Slide 2:</a:t>
            </a:r>
            <a:r>
              <a:rPr lang="en-IN" altLang="en-US" dirty="0">
                <a:solidFill>
                  <a:schemeClr val="accent4">
                    <a:lumMod val="50000"/>
                  </a:schemeClr>
                </a:solidFill>
              </a:rPr>
              <a:t> </a:t>
            </a:r>
            <a:r>
              <a:rPr lang="en-US" dirty="0">
                <a:solidFill>
                  <a:schemeClr val="accent4">
                    <a:lumMod val="50000"/>
                  </a:schemeClr>
                </a:solidFill>
              </a:rPr>
              <a:t>Problem Statement </a:t>
            </a:r>
            <a:br>
              <a:rPr lang="en-US" dirty="0">
                <a:solidFill>
                  <a:schemeClr val="accent4">
                    <a:lumMod val="50000"/>
                  </a:schemeClr>
                </a:solidFill>
              </a:rPr>
            </a:br>
            <a:endParaRPr lang="en-US" dirty="0">
              <a:solidFill>
                <a:schemeClr val="accent4">
                  <a:lumMod val="50000"/>
                </a:schemeClr>
              </a:solidFill>
            </a:endParaRPr>
          </a:p>
          <a:p>
            <a:pPr algn="just"/>
            <a:r>
              <a:rPr lang="en-US" altLang="en-US" dirty="0">
                <a:solidFill>
                  <a:schemeClr val="accent4">
                    <a:lumMod val="50000"/>
                  </a:schemeClr>
                </a:solidFill>
              </a:rPr>
              <a:t>During the COVID-19 pandemic, a large amount of data was generated daily across different regions. Most of this data is presented in numerical or tabular formats, which makes it difficult for users to clearly understand the information. Existing systems mainly provide static reports without interactive visual support. Because of this, analyzing trends and identifying patterns becomes challenging for users. Visual representation is required to simplify complex COVID-19 data. Therefore, an interactive and intelligent data visualization system is needed to effectively analyze and present the data.</a:t>
            </a:r>
            <a:endParaRPr lang="en-US" altLang="en-US" dirty="0">
              <a:solidFill>
                <a:schemeClr val="accent4">
                  <a:lumMod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5485" y="1371600"/>
            <a:ext cx="8058785" cy="4143375"/>
          </a:xfrm>
          <a:prstGeom prst="rect">
            <a:avLst/>
          </a:prstGeom>
          <a:noFill/>
        </p:spPr>
        <p:txBody>
          <a:bodyPr wrap="square">
            <a:noAutofit/>
          </a:bodyPr>
          <a:lstStyle/>
          <a:p>
            <a:pPr>
              <a:buNone/>
            </a:pPr>
            <a:r>
              <a:rPr lang="en-US" b="1" dirty="0">
                <a:solidFill>
                  <a:schemeClr val="accent4">
                    <a:lumMod val="50000"/>
                  </a:schemeClr>
                </a:solidFill>
              </a:rPr>
              <a:t>Slide 3 :</a:t>
            </a:r>
            <a:r>
              <a:rPr lang="en-IN" altLang="en-US" b="1" dirty="0">
                <a:solidFill>
                  <a:schemeClr val="accent4">
                    <a:lumMod val="50000"/>
                  </a:schemeClr>
                </a:solidFill>
              </a:rPr>
              <a:t> </a:t>
            </a:r>
            <a:r>
              <a:rPr lang="en-US" b="1" dirty="0">
                <a:solidFill>
                  <a:schemeClr val="accent4">
                    <a:lumMod val="50000"/>
                  </a:schemeClr>
                </a:solidFill>
              </a:rPr>
              <a:t>Scope of the Project</a:t>
            </a:r>
            <a:endParaRPr lang="en-US" b="1" dirty="0">
              <a:solidFill>
                <a:schemeClr val="accent4">
                  <a:lumMod val="50000"/>
                </a:schemeClr>
              </a:solidFill>
            </a:endParaRPr>
          </a:p>
          <a:p>
            <a:pPr>
              <a:buNone/>
            </a:pPr>
            <a:endParaRPr lang="en-US" b="1" dirty="0">
              <a:solidFill>
                <a:schemeClr val="accent4">
                  <a:lumMod val="50000"/>
                </a:schemeClr>
              </a:solidFill>
            </a:endParaRPr>
          </a:p>
          <a:p>
            <a:pPr algn="just">
              <a:buFont typeface="Arial" panose="020B0604020202020204" pitchFamily="34" charset="0"/>
              <a:buChar char="•"/>
            </a:pPr>
            <a:r>
              <a:rPr lang="en-US" altLang="en-US" dirty="0">
                <a:solidFill>
                  <a:schemeClr val="accent4">
                    <a:lumMod val="50000"/>
                  </a:schemeClr>
                </a:solidFill>
              </a:rPr>
              <a:t>The system focuses on collecting and analyzing historical COVID-19 data from reliable sources. It provides interactive visualizations of confirmed cases, deaths, and recoveries to help users understand the data easily</a:t>
            </a:r>
            <a:endParaRPr lang="en-US" altLang="en-US" dirty="0">
              <a:solidFill>
                <a:schemeClr val="accent4">
                  <a:lumMod val="50000"/>
                </a:schemeClr>
              </a:solidFill>
            </a:endParaRPr>
          </a:p>
          <a:p>
            <a:pPr algn="just">
              <a:buFont typeface="Arial" panose="020B0604020202020204" pitchFamily="34" charset="0"/>
              <a:buChar char="•"/>
            </a:pPr>
            <a:endParaRPr lang="en-US" altLang="en-US" dirty="0">
              <a:solidFill>
                <a:schemeClr val="accent4">
                  <a:lumMod val="50000"/>
                </a:schemeClr>
              </a:solidFill>
            </a:endParaRPr>
          </a:p>
          <a:p>
            <a:pPr algn="just">
              <a:buFont typeface="Arial" panose="020B0604020202020204" pitchFamily="34" charset="0"/>
              <a:buChar char="•"/>
            </a:pPr>
            <a:r>
              <a:rPr lang="en-US" altLang="en-US" dirty="0">
                <a:solidFill>
                  <a:schemeClr val="accent4">
                    <a:lumMod val="50000"/>
                  </a:schemeClr>
                </a:solidFill>
              </a:rPr>
              <a:t>The system does not support real-time or live COVID-19 data updates. It is not designed for medical diagnosis, patient-level prediction, or clinical decision-making.</a:t>
            </a:r>
            <a:endParaRPr lang="en-US" altLang="en-US" dirty="0">
              <a:solidFill>
                <a:schemeClr val="accent4">
                  <a:lumMod val="50000"/>
                </a:schemeClr>
              </a:solidFill>
            </a:endParaRPr>
          </a:p>
          <a:p>
            <a:pPr indent="0" algn="just">
              <a:buFont typeface="Arial" panose="020B0604020202020204" pitchFamily="34" charset="0"/>
              <a:buNone/>
            </a:pPr>
            <a:endParaRPr lang="en-US" altLang="en-US" dirty="0">
              <a:solidFill>
                <a:schemeClr val="accent4">
                  <a:lumMod val="50000"/>
                </a:schemeClr>
              </a:solidFill>
            </a:endParaRPr>
          </a:p>
          <a:p>
            <a:pPr algn="just">
              <a:buFont typeface="Arial" panose="020B0604020202020204" pitchFamily="34" charset="0"/>
              <a:buChar char="•"/>
            </a:pPr>
            <a:r>
              <a:rPr lang="en-US" altLang="en-US" dirty="0">
                <a:solidFill>
                  <a:schemeClr val="accent4">
                    <a:lumMod val="50000"/>
                  </a:schemeClr>
                </a:solidFill>
              </a:rPr>
              <a:t>The system is designed for students, researchers, and data analysts who want to study COVID-19 trends and patterns. It is also useful for government officials and policymakers for analytical reference and reporting.</a:t>
            </a:r>
            <a:endParaRPr lang="en-US" altLang="en-US" dirty="0">
              <a:solidFill>
                <a:schemeClr val="accent4">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48360" y="1078865"/>
            <a:ext cx="7467600" cy="4830445"/>
          </a:xfrm>
          <a:prstGeom prst="rect">
            <a:avLst/>
          </a:prstGeom>
          <a:noFill/>
        </p:spPr>
        <p:txBody>
          <a:bodyPr wrap="square">
            <a:noAutofit/>
          </a:bodyPr>
          <a:lstStyle/>
          <a:p>
            <a:pPr>
              <a:buNone/>
            </a:pPr>
            <a:r>
              <a:rPr lang="en-US" b="1" dirty="0">
                <a:solidFill>
                  <a:schemeClr val="accent4">
                    <a:lumMod val="50000"/>
                  </a:schemeClr>
                </a:solidFill>
              </a:rPr>
              <a:t>Slide 4 – Proposed Solution</a:t>
            </a:r>
            <a:endParaRPr lang="en-US" b="1" dirty="0">
              <a:solidFill>
                <a:schemeClr val="accent4">
                  <a:lumMod val="50000"/>
                </a:schemeClr>
              </a:solidFill>
            </a:endParaRPr>
          </a:p>
          <a:p>
            <a:pPr>
              <a:buNone/>
            </a:pPr>
            <a:endParaRPr lang="en-US" b="1" dirty="0">
              <a:solidFill>
                <a:schemeClr val="accent4">
                  <a:lumMod val="50000"/>
                </a:schemeClr>
              </a:solidFill>
            </a:endParaRPr>
          </a:p>
          <a:p>
            <a:pPr algn="just">
              <a:buFont typeface="Arial" panose="020B0604020202020204" pitchFamily="34" charset="0"/>
              <a:buChar char="•"/>
            </a:pPr>
            <a:r>
              <a:rPr lang="en-US" altLang="en-US" dirty="0">
                <a:solidFill>
                  <a:schemeClr val="accent4">
                    <a:lumMod val="50000"/>
                  </a:schemeClr>
                </a:solidFill>
              </a:rPr>
              <a:t>This project presents an interactive COVID-19 data visualization system to address the difficulty of understanding large amounts of numerical data. The system transforms complex COVID-19 datasets into clear and meaningful visual dashboards. It helps users easily analyze trends, patterns, and comparisons across different regions and time periods. Interactive charts and basic AI-based trend analysis improve data interpretation and reduce manual effort. Overall, the solution makes COVID-19 data analysis simple, effective, and user-friendly.</a:t>
            </a:r>
            <a:endParaRPr lang="en-US" altLang="en-US" dirty="0">
              <a:solidFill>
                <a:schemeClr val="accent4">
                  <a:lumMod val="50000"/>
                </a:schemeClr>
              </a:solidFill>
            </a:endParaRPr>
          </a:p>
          <a:p>
            <a:pPr indent="0" algn="just">
              <a:buFont typeface="Arial" panose="020B0604020202020204" pitchFamily="34" charset="0"/>
              <a:buNone/>
            </a:pPr>
            <a:endParaRPr lang="en-US" altLang="en-US" dirty="0">
              <a:solidFill>
                <a:schemeClr val="accent4">
                  <a:lumMod val="50000"/>
                </a:schemeClr>
              </a:solidFill>
            </a:endParaRPr>
          </a:p>
          <a:p>
            <a:pPr algn="just">
              <a:buFont typeface="Arial" panose="020B0604020202020204" pitchFamily="34" charset="0"/>
              <a:buChar char="•"/>
            </a:pPr>
            <a:r>
              <a:rPr lang="en-US" altLang="en-US" dirty="0">
                <a:solidFill>
                  <a:schemeClr val="accent4">
                    <a:lumMod val="50000"/>
                  </a:schemeClr>
                </a:solidFill>
              </a:rPr>
              <a:t>The innovation of this project is the integration of interactive data visualization with basic AI-based trend analysis to simplify complex COVID-19 data. It enables users to easily identify patterns and insights without relying on static reports.</a:t>
            </a:r>
            <a:endParaRPr lang="en-US" altLang="en-US" dirty="0">
              <a:solidFill>
                <a:schemeClr val="accent4">
                  <a:lumMod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06830" y="2797175"/>
            <a:ext cx="7153275" cy="3598545"/>
          </a:xfrm>
          <a:prstGeom prst="rect">
            <a:avLst/>
          </a:prstGeom>
          <a:noFill/>
        </p:spPr>
        <p:txBody>
          <a:bodyPr wrap="square">
            <a:noAutofit/>
          </a:bodyPr>
          <a:lstStyle/>
          <a:p>
            <a:r>
              <a:rPr lang="en-US" dirty="0">
                <a:solidFill>
                  <a:schemeClr val="accent4">
                    <a:lumMod val="50000"/>
                  </a:schemeClr>
                </a:solidFill>
              </a:rPr>
              <a:t>Slide 5 :System Architecture</a:t>
            </a:r>
            <a:endParaRPr lang="en-US" dirty="0">
              <a:solidFill>
                <a:schemeClr val="accent4">
                  <a:lumMod val="50000"/>
                </a:schemeClr>
              </a:solidFill>
            </a:endParaRPr>
          </a:p>
          <a:p>
            <a:endParaRPr lang="en-US" dirty="0">
              <a:solidFill>
                <a:schemeClr val="accent4">
                  <a:lumMod val="50000"/>
                </a:schemeClr>
              </a:solidFill>
            </a:endParaRPr>
          </a:p>
          <a:p>
            <a:r>
              <a:rPr lang="en-US" dirty="0">
                <a:solidFill>
                  <a:schemeClr val="tx1">
                    <a:lumMod val="85000"/>
                    <a:lumOff val="15000"/>
                  </a:schemeClr>
                </a:solidFill>
                <a:sym typeface="+mn-ea"/>
              </a:rPr>
              <a:t>The system follows a structured data flow for analysis and visualization.</a:t>
            </a:r>
            <a:endParaRPr lang="en-US" dirty="0">
              <a:solidFill>
                <a:schemeClr val="tx1">
                  <a:lumMod val="85000"/>
                  <a:lumOff val="15000"/>
                </a:schemeClr>
              </a:solidFill>
              <a:latin typeface="+mn-lt"/>
            </a:endParaRPr>
          </a:p>
          <a:p>
            <a:r>
              <a:rPr lang="en-US" dirty="0">
                <a:solidFill>
                  <a:schemeClr val="accent4">
                    <a:lumMod val="50000"/>
                  </a:schemeClr>
                </a:solidFill>
              </a:rPr>
              <a:t>Components explanation</a:t>
            </a:r>
            <a:endParaRPr lang="en-US" dirty="0">
              <a:solidFill>
                <a:schemeClr val="accent4">
                  <a:lumMod val="50000"/>
                </a:schemeClr>
              </a:solidFill>
            </a:endParaRPr>
          </a:p>
          <a:p>
            <a:pPr>
              <a:lnSpc>
                <a:spcPct val="150000"/>
              </a:lnSpc>
              <a:spcBef>
                <a:spcPct val="0"/>
              </a:spcBef>
              <a:spcAft>
                <a:spcPct val="0"/>
              </a:spcAft>
            </a:pPr>
            <a:r>
              <a:rPr lang="en-US">
                <a:solidFill>
                  <a:schemeClr val="tx1">
                    <a:lumMod val="85000"/>
                    <a:lumOff val="15000"/>
                  </a:schemeClr>
                </a:solidFill>
                <a:sym typeface="+mn-ea"/>
              </a:rPr>
              <a:t>• COVID-19 Data Source (CSV/Excel)</a:t>
            </a:r>
            <a:endParaRPr lang="en-US">
              <a:solidFill>
                <a:schemeClr val="tx1">
                  <a:lumMod val="85000"/>
                  <a:lumOff val="15000"/>
                </a:schemeClr>
              </a:solidFill>
              <a:latin typeface="+mn-lt"/>
            </a:endParaRPr>
          </a:p>
          <a:p>
            <a:pPr>
              <a:lnSpc>
                <a:spcPct val="150000"/>
              </a:lnSpc>
              <a:spcBef>
                <a:spcPct val="0"/>
              </a:spcBef>
              <a:spcAft>
                <a:spcPct val="0"/>
              </a:spcAft>
            </a:pPr>
            <a:r>
              <a:rPr lang="en-US">
                <a:solidFill>
                  <a:schemeClr val="tx1">
                    <a:lumMod val="85000"/>
                    <a:lumOff val="15000"/>
                  </a:schemeClr>
                </a:solidFill>
                <a:sym typeface="+mn-ea"/>
              </a:rPr>
              <a:t>• Data Cleaning and Processing</a:t>
            </a:r>
            <a:endParaRPr lang="en-US">
              <a:solidFill>
                <a:schemeClr val="tx1">
                  <a:lumMod val="85000"/>
                  <a:lumOff val="15000"/>
                </a:schemeClr>
              </a:solidFill>
              <a:latin typeface="+mn-lt"/>
            </a:endParaRPr>
          </a:p>
          <a:p>
            <a:pPr>
              <a:lnSpc>
                <a:spcPct val="150000"/>
              </a:lnSpc>
              <a:spcBef>
                <a:spcPct val="0"/>
              </a:spcBef>
              <a:spcAft>
                <a:spcPct val="0"/>
              </a:spcAft>
            </a:pPr>
            <a:r>
              <a:rPr lang="en-US">
                <a:solidFill>
                  <a:schemeClr val="tx1">
                    <a:lumMod val="85000"/>
                    <a:lumOff val="15000"/>
                  </a:schemeClr>
                </a:solidFill>
                <a:sym typeface="+mn-ea"/>
              </a:rPr>
              <a:t>• Power BI Dashboard</a:t>
            </a:r>
            <a:endParaRPr lang="en-US">
              <a:solidFill>
                <a:schemeClr val="tx1">
                  <a:lumMod val="85000"/>
                  <a:lumOff val="15000"/>
                </a:schemeClr>
              </a:solidFill>
              <a:latin typeface="+mn-lt"/>
            </a:endParaRPr>
          </a:p>
          <a:p>
            <a:pPr>
              <a:lnSpc>
                <a:spcPct val="150000"/>
              </a:lnSpc>
              <a:spcBef>
                <a:spcPct val="0"/>
              </a:spcBef>
              <a:spcAft>
                <a:spcPct val="0"/>
              </a:spcAft>
            </a:pPr>
            <a:r>
              <a:rPr lang="en-US">
                <a:solidFill>
                  <a:schemeClr val="tx1">
                    <a:lumMod val="85000"/>
                    <a:lumOff val="15000"/>
                  </a:schemeClr>
                </a:solidFill>
                <a:sym typeface="+mn-ea"/>
              </a:rPr>
              <a:t>• AI Insight Engine</a:t>
            </a:r>
            <a:endParaRPr lang="en-US">
              <a:solidFill>
                <a:schemeClr val="tx1">
                  <a:lumMod val="85000"/>
                  <a:lumOff val="15000"/>
                </a:schemeClr>
              </a:solidFill>
              <a:latin typeface="+mn-lt"/>
            </a:endParaRPr>
          </a:p>
          <a:p>
            <a:r>
              <a:rPr lang="en-US" dirty="0">
                <a:solidFill>
                  <a:schemeClr val="accent4">
                    <a:lumMod val="50000"/>
                  </a:schemeClr>
                </a:solidFill>
              </a:rPr>
              <a:t>Data flow overview</a:t>
            </a:r>
            <a:endParaRPr lang="en-US" dirty="0">
              <a:solidFill>
                <a:schemeClr val="accent4">
                  <a:lumMod val="50000"/>
                </a:schemeClr>
              </a:solidFill>
            </a:endParaRPr>
          </a:p>
          <a:p>
            <a:endParaRPr lang="en-US" dirty="0">
              <a:solidFill>
                <a:schemeClr val="accent4">
                  <a:lumMod val="50000"/>
                </a:schemeClr>
              </a:solidFill>
            </a:endParaRPr>
          </a:p>
          <a:p>
            <a:r>
              <a:rPr lang="en-US" dirty="0">
                <a:solidFill>
                  <a:schemeClr val="tx1">
                    <a:lumMod val="85000"/>
                    <a:lumOff val="15000"/>
                  </a:schemeClr>
                </a:solidFill>
                <a:sym typeface="+mn-ea"/>
              </a:rPr>
              <a:t>Data Flow: Data Collection → Processing → Visualization → AI Insights → User</a:t>
            </a:r>
            <a:endParaRPr lang="en-US" dirty="0">
              <a:solidFill>
                <a:schemeClr val="tx1">
                  <a:lumMod val="85000"/>
                  <a:lumOff val="15000"/>
                </a:schemeClr>
              </a:solidFill>
              <a:latin typeface="+mn-lt"/>
            </a:endParaRPr>
          </a:p>
          <a:p>
            <a:endParaRPr lang="en-US" dirty="0">
              <a:solidFill>
                <a:schemeClr val="accent4">
                  <a:lumMod val="50000"/>
                </a:schemeClr>
              </a:solidFill>
            </a:endParaRPr>
          </a:p>
        </p:txBody>
      </p:sp>
      <p:pic>
        <p:nvPicPr>
          <p:cNvPr id="5" name="Picture 4"/>
          <p:cNvPicPr>
            <a:picLocks noChangeAspect="1"/>
          </p:cNvPicPr>
          <p:nvPr/>
        </p:nvPicPr>
        <p:blipFill>
          <a:blip r:embed="rId1"/>
          <a:stretch>
            <a:fillRect/>
          </a:stretch>
        </p:blipFill>
        <p:spPr>
          <a:xfrm>
            <a:off x="1776730" y="76200"/>
            <a:ext cx="6386195" cy="27216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82750" y="1708150"/>
            <a:ext cx="6199505" cy="3958590"/>
          </a:xfrm>
          <a:prstGeom prst="rect">
            <a:avLst/>
          </a:prstGeom>
          <a:noFill/>
        </p:spPr>
        <p:txBody>
          <a:bodyPr wrap="square">
            <a:noAutofit/>
          </a:bodyPr>
          <a:lstStyle/>
          <a:p>
            <a:pPr>
              <a:buNone/>
            </a:pPr>
            <a:r>
              <a:rPr lang="en-US" b="1" dirty="0">
                <a:solidFill>
                  <a:schemeClr val="accent4">
                    <a:lumMod val="50000"/>
                  </a:schemeClr>
                </a:solidFill>
              </a:rPr>
              <a:t>Slide 6 – Technologies Used</a:t>
            </a:r>
            <a:endParaRPr lang="en-US" b="1" dirty="0">
              <a:solidFill>
                <a:schemeClr val="accent4">
                  <a:lumMod val="50000"/>
                </a:schemeClr>
              </a:solidFill>
            </a:endParaRPr>
          </a:p>
          <a:p>
            <a:pPr>
              <a:buNone/>
            </a:pPr>
            <a:endParaRPr lang="en-US" b="1" dirty="0">
              <a:solidFill>
                <a:schemeClr val="accent4">
                  <a:lumMod val="50000"/>
                </a:schemeClr>
              </a:solidFill>
            </a:endParaRPr>
          </a:p>
          <a:p>
            <a:pPr>
              <a:buFont typeface="Arial" panose="020B0604020202020204" pitchFamily="34" charset="0"/>
              <a:buChar char="•"/>
            </a:pPr>
            <a:r>
              <a:rPr lang="en-US" dirty="0">
                <a:solidFill>
                  <a:schemeClr val="accent4">
                    <a:lumMod val="50000"/>
                  </a:schemeClr>
                </a:solidFill>
              </a:rPr>
              <a:t>Frontend</a:t>
            </a:r>
            <a:r>
              <a:rPr lang="en-IN" altLang="en-US" dirty="0">
                <a:solidFill>
                  <a:schemeClr val="accent4">
                    <a:lumMod val="50000"/>
                  </a:schemeClr>
                </a:solidFill>
              </a:rPr>
              <a:t>: </a:t>
            </a:r>
            <a:r>
              <a:rPr lang="en-US" kern="0" dirty="0">
                <a:ln>
                  <a:noFill/>
                  <a:prstDash val="sysDot"/>
                </a:ln>
                <a:solidFill>
                  <a:schemeClr val="tx1">
                    <a:lumMod val="85000"/>
                    <a:lumOff val="15000"/>
                  </a:schemeClr>
                </a:solidFill>
                <a:sym typeface="+mn-ea"/>
              </a:rPr>
              <a:t>Power BI Dashboard</a:t>
            </a:r>
            <a:endParaRPr lang="en-US" kern="0" dirty="0">
              <a:ln>
                <a:noFill/>
                <a:prstDash val="sysDot"/>
              </a:ln>
              <a:solidFill>
                <a:schemeClr val="tx1">
                  <a:lumMod val="85000"/>
                  <a:lumOff val="15000"/>
                </a:schemeClr>
              </a:solidFill>
              <a:latin typeface="+mn-lt"/>
            </a:endParaRPr>
          </a:p>
          <a:p>
            <a:pPr>
              <a:buFont typeface="Arial" panose="020B0604020202020204" pitchFamily="34" charset="0"/>
              <a:buChar char="•"/>
            </a:pPr>
            <a:endParaRPr lang="en-US" dirty="0">
              <a:solidFill>
                <a:schemeClr val="accent4">
                  <a:lumMod val="50000"/>
                </a:schemeClr>
              </a:solidFill>
            </a:endParaRPr>
          </a:p>
          <a:p>
            <a:pPr>
              <a:buFont typeface="Arial" panose="020B0604020202020204" pitchFamily="34" charset="0"/>
              <a:buChar char="•"/>
            </a:pPr>
            <a:r>
              <a:rPr lang="en-US" dirty="0">
                <a:solidFill>
                  <a:schemeClr val="accent4">
                    <a:lumMod val="50000"/>
                  </a:schemeClr>
                </a:solidFill>
              </a:rPr>
              <a:t>Backend</a:t>
            </a:r>
            <a:r>
              <a:rPr lang="en-IN" altLang="en-US" dirty="0">
                <a:solidFill>
                  <a:schemeClr val="accent4">
                    <a:lumMod val="50000"/>
                  </a:schemeClr>
                </a:solidFill>
              </a:rPr>
              <a:t>:</a:t>
            </a:r>
            <a:r>
              <a:rPr lang="en-US" kern="0">
                <a:ln>
                  <a:noFill/>
                  <a:prstDash val="sysDot"/>
                </a:ln>
                <a:solidFill>
                  <a:schemeClr val="tx1">
                    <a:lumMod val="85000"/>
                    <a:lumOff val="15000"/>
                  </a:schemeClr>
                </a:solidFill>
                <a:sym typeface="+mn-ea"/>
              </a:rPr>
              <a:t> Power BI Data Processing Engine</a:t>
            </a:r>
            <a:endParaRPr lang="en-US" kern="0">
              <a:ln>
                <a:noFill/>
                <a:prstDash val="sysDot"/>
              </a:ln>
              <a:solidFill>
                <a:schemeClr val="tx1">
                  <a:lumMod val="85000"/>
                  <a:lumOff val="15000"/>
                </a:schemeClr>
              </a:solidFill>
              <a:latin typeface="+mn-lt"/>
            </a:endParaRPr>
          </a:p>
          <a:p>
            <a:pPr indent="0">
              <a:buFont typeface="Arial" panose="020B0604020202020204" pitchFamily="34" charset="0"/>
              <a:buNone/>
            </a:pPr>
            <a:endParaRPr lang="en-US" dirty="0">
              <a:solidFill>
                <a:schemeClr val="accent4">
                  <a:lumMod val="50000"/>
                </a:schemeClr>
              </a:solidFill>
            </a:endParaRPr>
          </a:p>
          <a:p>
            <a:pPr>
              <a:buFont typeface="Arial" panose="020B0604020202020204" pitchFamily="34" charset="0"/>
              <a:buChar char="•"/>
            </a:pPr>
            <a:r>
              <a:rPr lang="en-US" dirty="0">
                <a:solidFill>
                  <a:schemeClr val="accent4">
                    <a:lumMod val="50000"/>
                  </a:schemeClr>
                </a:solidFill>
              </a:rPr>
              <a:t>Database</a:t>
            </a:r>
            <a:r>
              <a:rPr lang="en-IN" altLang="en-US" dirty="0">
                <a:solidFill>
                  <a:schemeClr val="accent4">
                    <a:lumMod val="50000"/>
                  </a:schemeClr>
                </a:solidFill>
              </a:rPr>
              <a:t>:</a:t>
            </a:r>
            <a:r>
              <a:rPr lang="en-US" kern="0">
                <a:ln>
                  <a:noFill/>
                  <a:prstDash val="sysDot"/>
                </a:ln>
                <a:solidFill>
                  <a:schemeClr val="tx1">
                    <a:lumMod val="85000"/>
                    <a:lumOff val="15000"/>
                  </a:schemeClr>
                </a:solidFill>
                <a:sym typeface="+mn-ea"/>
              </a:rPr>
              <a:t>CSV / Excel files</a:t>
            </a:r>
            <a:endParaRPr lang="en-US" kern="0">
              <a:ln>
                <a:noFill/>
                <a:prstDash val="sysDot"/>
              </a:ln>
              <a:solidFill>
                <a:schemeClr val="tx1">
                  <a:lumMod val="85000"/>
                  <a:lumOff val="15000"/>
                </a:schemeClr>
              </a:solidFill>
              <a:latin typeface="+mn-lt"/>
            </a:endParaRPr>
          </a:p>
          <a:p>
            <a:pPr>
              <a:buFont typeface="Arial" panose="020B0604020202020204" pitchFamily="34" charset="0"/>
              <a:buChar char="•"/>
            </a:pPr>
            <a:endParaRPr lang="en-US" dirty="0">
              <a:solidFill>
                <a:schemeClr val="accent4">
                  <a:lumMod val="50000"/>
                </a:schemeClr>
              </a:solidFill>
            </a:endParaRPr>
          </a:p>
          <a:p>
            <a:pPr>
              <a:lnSpc>
                <a:spcPct val="150000"/>
              </a:lnSpc>
              <a:spcBef>
                <a:spcPct val="0"/>
              </a:spcBef>
              <a:spcAft>
                <a:spcPct val="0"/>
              </a:spcAft>
            </a:pPr>
            <a:r>
              <a:rPr lang="en-US" dirty="0">
                <a:solidFill>
                  <a:schemeClr val="accent4">
                    <a:lumMod val="50000"/>
                  </a:schemeClr>
                </a:solidFill>
              </a:rPr>
              <a:t>Tools &amp; Libraries</a:t>
            </a:r>
            <a:r>
              <a:rPr lang="en-IN" altLang="en-US" dirty="0">
                <a:solidFill>
                  <a:schemeClr val="accent4">
                    <a:lumMod val="50000"/>
                  </a:schemeClr>
                </a:solidFill>
              </a:rPr>
              <a:t>:</a:t>
            </a:r>
            <a:endParaRPr lang="en-US" kern="0">
              <a:ln>
                <a:noFill/>
                <a:prstDash val="sysDot"/>
              </a:ln>
              <a:solidFill>
                <a:schemeClr val="tx1">
                  <a:lumMod val="85000"/>
                  <a:lumOff val="15000"/>
                </a:schemeClr>
              </a:solidFill>
              <a:latin typeface="+mn-lt"/>
            </a:endParaRPr>
          </a:p>
          <a:p>
            <a:pPr>
              <a:lnSpc>
                <a:spcPct val="150000"/>
              </a:lnSpc>
              <a:spcBef>
                <a:spcPct val="0"/>
              </a:spcBef>
              <a:spcAft>
                <a:spcPct val="0"/>
              </a:spcAft>
            </a:pPr>
            <a:r>
              <a:rPr>
                <a:sym typeface="+mn-ea"/>
              </a:rPr>
              <a:t>• Microsoft Power BI</a:t>
            </a:r>
            <a:endParaRPr>
              <a:sym typeface="+mn-ea"/>
            </a:endParaRPr>
          </a:p>
          <a:p>
            <a:pPr>
              <a:lnSpc>
                <a:spcPct val="150000"/>
              </a:lnSpc>
              <a:spcBef>
                <a:spcPct val="0"/>
              </a:spcBef>
              <a:spcAft>
                <a:spcPct val="0"/>
              </a:spcAft>
            </a:pPr>
            <a:r>
              <a:rPr>
                <a:sym typeface="+mn-ea"/>
              </a:rPr>
              <a:t>• Microsoft Excel</a:t>
            </a:r>
            <a:endParaRPr>
              <a:sym typeface="+mn-ea"/>
            </a:endParaRPr>
          </a:p>
          <a:p>
            <a:pPr>
              <a:buFont typeface="Arial" panose="020B0604020202020204" pitchFamily="34" charset="0"/>
              <a:buChar char="•"/>
            </a:pPr>
            <a:endParaRPr lang="en-IN" altLang="en-US" dirty="0">
              <a:solidFill>
                <a:schemeClr val="accent4">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8350" y="636270"/>
            <a:ext cx="8112125" cy="5854700"/>
          </a:xfrm>
          <a:prstGeom prst="rect">
            <a:avLst/>
          </a:prstGeom>
          <a:noFill/>
        </p:spPr>
        <p:txBody>
          <a:bodyPr wrap="square">
            <a:noAutofit/>
          </a:bodyPr>
          <a:lstStyle/>
          <a:p>
            <a:pPr>
              <a:buNone/>
            </a:pPr>
            <a:r>
              <a:rPr lang="fr-FR" b="1" dirty="0">
                <a:solidFill>
                  <a:schemeClr val="accent4">
                    <a:lumMod val="50000"/>
                  </a:schemeClr>
                </a:solidFill>
              </a:rPr>
              <a:t>Slide 7 – Module Description</a:t>
            </a:r>
            <a:endParaRPr lang="fr-FR" b="1" dirty="0">
              <a:solidFill>
                <a:schemeClr val="accent4">
                  <a:lumMod val="50000"/>
                </a:schemeClr>
              </a:solidFill>
            </a:endParaRPr>
          </a:p>
          <a:p>
            <a:pPr>
              <a:lnSpc>
                <a:spcPct val="150000"/>
              </a:lnSpc>
              <a:spcBef>
                <a:spcPct val="0"/>
              </a:spcBef>
              <a:spcAft>
                <a:spcPct val="0"/>
              </a:spcAft>
            </a:pPr>
            <a:r>
              <a:rPr lang="en-US" sz="1600" b="1">
                <a:solidFill>
                  <a:schemeClr val="tx1">
                    <a:lumMod val="85000"/>
                    <a:lumOff val="15000"/>
                  </a:schemeClr>
                </a:solidFill>
                <a:sym typeface="+mn-ea"/>
              </a:rPr>
              <a:t>Module 1 – Data Collection:</a:t>
            </a:r>
            <a:endParaRPr lang="en-US" sz="1600" b="1">
              <a:solidFill>
                <a:schemeClr val="tx1">
                  <a:lumMod val="85000"/>
                  <a:lumOff val="15000"/>
                </a:schemeClr>
              </a:solidFill>
              <a:latin typeface="+mn-lt"/>
            </a:endParaRPr>
          </a:p>
          <a:p>
            <a:pPr>
              <a:lnSpc>
                <a:spcPct val="150000"/>
              </a:lnSpc>
              <a:spcBef>
                <a:spcPct val="0"/>
              </a:spcBef>
              <a:spcAft>
                <a:spcPct val="0"/>
              </a:spcAft>
            </a:pPr>
            <a:r>
              <a:rPr lang="en-US" altLang="en-US" sz="1600">
                <a:sym typeface="+mn-ea"/>
              </a:rPr>
              <a:t>Collecting COVID-19 data from reliable public sources such as government websites and official health organizations to ensure accuracy, consistency, and credibility of the dataset used for analysis and visualization.</a:t>
            </a:r>
            <a:endParaRPr lang="en-US" altLang="en-US" sz="1600">
              <a:sym typeface="+mn-ea"/>
            </a:endParaRPr>
          </a:p>
          <a:p>
            <a:pPr>
              <a:lnSpc>
                <a:spcPct val="150000"/>
              </a:lnSpc>
              <a:spcBef>
                <a:spcPct val="0"/>
              </a:spcBef>
              <a:spcAft>
                <a:spcPct val="0"/>
              </a:spcAft>
            </a:pPr>
            <a:endParaRPr lang="en-US" altLang="en-US">
              <a:sym typeface="+mn-ea"/>
            </a:endParaRPr>
          </a:p>
          <a:p>
            <a:pPr>
              <a:buFont typeface="Arial" panose="020B0604020202020204" pitchFamily="34" charset="0"/>
              <a:buChar char="•"/>
            </a:pPr>
            <a:r>
              <a:rPr lang="en-US" sz="1600" b="1">
                <a:solidFill>
                  <a:schemeClr val="tx1">
                    <a:lumMod val="85000"/>
                    <a:lumOff val="15000"/>
                  </a:schemeClr>
                </a:solidFill>
                <a:sym typeface="+mn-ea"/>
              </a:rPr>
              <a:t>Module 2 – Data Processing:</a:t>
            </a:r>
            <a:endParaRPr lang="en-US" sz="1600" b="1">
              <a:solidFill>
                <a:schemeClr val="tx1">
                  <a:lumMod val="85000"/>
                  <a:lumOff val="15000"/>
                </a:schemeClr>
              </a:solidFill>
              <a:latin typeface="+mn-lt"/>
            </a:endParaRPr>
          </a:p>
          <a:p>
            <a:pPr>
              <a:lnSpc>
                <a:spcPct val="150000"/>
              </a:lnSpc>
              <a:spcBef>
                <a:spcPct val="0"/>
              </a:spcBef>
              <a:spcAft>
                <a:spcPct val="0"/>
              </a:spcAft>
            </a:pPr>
            <a:r>
              <a:rPr lang="en-US" altLang="en-US" sz="1600">
                <a:solidFill>
                  <a:schemeClr val="tx1">
                    <a:lumMod val="85000"/>
                    <a:lumOff val="15000"/>
                  </a:schemeClr>
                </a:solidFill>
                <a:sym typeface="+mn-ea"/>
              </a:rPr>
              <a:t>This module focuses on cleaning, filtering, and organizing the collected COVID-19 data by handling missing values, correcting errors, and transforming the data into a suitable format. The processed data is then prepared for accurate analysis and effective visualization in the dashboard</a:t>
            </a:r>
            <a:endParaRPr lang="en-US" altLang="en-US" sz="1600">
              <a:solidFill>
                <a:schemeClr val="tx1">
                  <a:lumMod val="85000"/>
                  <a:lumOff val="15000"/>
                </a:schemeClr>
              </a:solidFill>
              <a:sym typeface="+mn-ea"/>
            </a:endParaRPr>
          </a:p>
          <a:p>
            <a:pPr>
              <a:lnSpc>
                <a:spcPct val="150000"/>
              </a:lnSpc>
              <a:spcBef>
                <a:spcPct val="0"/>
              </a:spcBef>
              <a:spcAft>
                <a:spcPct val="0"/>
              </a:spcAft>
            </a:pPr>
            <a:r>
              <a:rPr lang="en-US" sz="1600" b="1">
                <a:solidFill>
                  <a:schemeClr val="tx1">
                    <a:lumMod val="85000"/>
                    <a:lumOff val="15000"/>
                  </a:schemeClr>
                </a:solidFill>
                <a:sym typeface="+mn-ea"/>
              </a:rPr>
              <a:t>Module 3 – Visualization &amp; AI Insights:</a:t>
            </a:r>
            <a:endParaRPr lang="en-US" sz="1600" b="1">
              <a:solidFill>
                <a:schemeClr val="tx1">
                  <a:lumMod val="85000"/>
                  <a:lumOff val="15000"/>
                </a:schemeClr>
              </a:solidFill>
              <a:latin typeface="+mn-lt"/>
            </a:endParaRPr>
          </a:p>
          <a:p>
            <a:pPr>
              <a:lnSpc>
                <a:spcPct val="150000"/>
              </a:lnSpc>
              <a:spcBef>
                <a:spcPct val="0"/>
              </a:spcBef>
              <a:spcAft>
                <a:spcPct val="0"/>
              </a:spcAft>
            </a:pPr>
            <a:r>
              <a:rPr lang="en-US" altLang="en-US" sz="1600">
                <a:solidFill>
                  <a:schemeClr val="tx1">
                    <a:lumMod val="85000"/>
                    <a:lumOff val="15000"/>
                  </a:schemeClr>
                </a:solidFill>
                <a:sym typeface="+mn-ea"/>
              </a:rPr>
              <a:t>This module focuses on creating interactive dashboards and visualizations using Power BI to represent COVID-19 data clearly. AI-assisted features are applied to generate insights, identify trends and patterns, and support better understanding and decision-making.</a:t>
            </a:r>
            <a:endParaRPr lang="en-US" altLang="en-US" sz="1600">
              <a:solidFill>
                <a:schemeClr val="tx1">
                  <a:lumMod val="85000"/>
                  <a:lumOff val="15000"/>
                </a:schemeClr>
              </a:solidFill>
              <a:latin typeface="+mn-lt"/>
            </a:endParaRPr>
          </a:p>
          <a:p>
            <a:pPr>
              <a:buFont typeface="Arial" panose="020B0604020202020204" pitchFamily="34" charset="0"/>
              <a:buChar char="•"/>
            </a:pPr>
            <a:endParaRPr lang="fr-FR" sz="1600" dirty="0">
              <a:solidFill>
                <a:schemeClr val="accent4">
                  <a:lumMod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6875" y="367030"/>
            <a:ext cx="8054975" cy="5538470"/>
          </a:xfrm>
          <a:prstGeom prst="rect">
            <a:avLst/>
          </a:prstGeom>
          <a:noFill/>
        </p:spPr>
        <p:txBody>
          <a:bodyPr wrap="square">
            <a:noAutofit/>
          </a:bodyPr>
          <a:lstStyle/>
          <a:p>
            <a:pPr>
              <a:buNone/>
            </a:pPr>
            <a:r>
              <a:rPr lang="en-US" b="1" dirty="0">
                <a:solidFill>
                  <a:schemeClr val="accent4">
                    <a:lumMod val="50000"/>
                  </a:schemeClr>
                </a:solidFill>
              </a:rPr>
              <a:t>Slide 8 – Implementation Status</a:t>
            </a:r>
            <a:endParaRPr lang="en-US" b="1" dirty="0">
              <a:solidFill>
                <a:schemeClr val="accent4">
                  <a:lumMod val="50000"/>
                </a:schemeClr>
              </a:solidFill>
            </a:endParaRPr>
          </a:p>
          <a:p>
            <a:pPr>
              <a:buNone/>
            </a:pPr>
            <a:endParaRPr lang="en-US" b="1" dirty="0">
              <a:solidFill>
                <a:schemeClr val="accent4">
                  <a:lumMod val="50000"/>
                </a:schemeClr>
              </a:solidFill>
            </a:endParaRPr>
          </a:p>
          <a:p>
            <a:pPr>
              <a:buFont typeface="Arial" panose="020B0604020202020204" pitchFamily="34" charset="0"/>
              <a:buChar char="•"/>
            </a:pPr>
            <a:r>
              <a:rPr lang="en-US" dirty="0">
                <a:solidFill>
                  <a:schemeClr val="accent4">
                    <a:lumMod val="50000"/>
                  </a:schemeClr>
                </a:solidFill>
              </a:rPr>
              <a:t>Completed modules</a:t>
            </a:r>
            <a:endParaRPr lang="en-US" dirty="0">
              <a:solidFill>
                <a:schemeClr val="accent4">
                  <a:lumMod val="50000"/>
                </a:schemeClr>
              </a:solidFill>
            </a:endParaRPr>
          </a:p>
          <a:p>
            <a:pPr>
              <a:lnSpc>
                <a:spcPct val="150000"/>
              </a:lnSpc>
              <a:spcBef>
                <a:spcPct val="0"/>
              </a:spcBef>
              <a:spcAft>
                <a:spcPct val="0"/>
              </a:spcAft>
            </a:pPr>
            <a:r>
              <a:rPr lang="en-US" dirty="0">
                <a:solidFill>
                  <a:schemeClr val="tx1">
                    <a:lumMod val="85000"/>
                    <a:lumOff val="15000"/>
                  </a:schemeClr>
                </a:solidFill>
                <a:sym typeface="+mn-ea"/>
              </a:rPr>
              <a:t>Data collection</a:t>
            </a:r>
            <a:endParaRPr lang="en-US" dirty="0">
              <a:solidFill>
                <a:schemeClr val="tx1">
                  <a:lumMod val="85000"/>
                  <a:lumOff val="15000"/>
                </a:schemeClr>
              </a:solidFill>
              <a:latin typeface="+mn-lt"/>
            </a:endParaRPr>
          </a:p>
          <a:p>
            <a:pPr>
              <a:lnSpc>
                <a:spcPct val="150000"/>
              </a:lnSpc>
              <a:spcBef>
                <a:spcPct val="0"/>
              </a:spcBef>
              <a:spcAft>
                <a:spcPct val="0"/>
              </a:spcAft>
            </a:pPr>
            <a:r>
              <a:rPr lang="en-US" dirty="0">
                <a:solidFill>
                  <a:schemeClr val="tx1">
                    <a:lumMod val="85000"/>
                    <a:lumOff val="15000"/>
                  </a:schemeClr>
                </a:solidFill>
                <a:sym typeface="+mn-ea"/>
              </a:rPr>
              <a:t>• Data preprocessing</a:t>
            </a:r>
            <a:endParaRPr lang="en-US" dirty="0">
              <a:solidFill>
                <a:schemeClr val="tx1">
                  <a:lumMod val="85000"/>
                  <a:lumOff val="15000"/>
                </a:schemeClr>
              </a:solidFill>
              <a:latin typeface="+mn-lt"/>
            </a:endParaRPr>
          </a:p>
          <a:p>
            <a:pPr>
              <a:lnSpc>
                <a:spcPct val="150000"/>
              </a:lnSpc>
              <a:spcBef>
                <a:spcPct val="0"/>
              </a:spcBef>
              <a:spcAft>
                <a:spcPct val="0"/>
              </a:spcAft>
            </a:pPr>
            <a:r>
              <a:rPr lang="en-US" dirty="0">
                <a:solidFill>
                  <a:schemeClr val="tx1">
                    <a:lumMod val="85000"/>
                    <a:lumOff val="15000"/>
                  </a:schemeClr>
                </a:solidFill>
                <a:sym typeface="+mn-ea"/>
              </a:rPr>
              <a:t>• Dashboard creation</a:t>
            </a:r>
            <a:endParaRPr lang="en-US" dirty="0">
              <a:solidFill>
                <a:schemeClr val="tx1">
                  <a:lumMod val="85000"/>
                  <a:lumOff val="15000"/>
                </a:schemeClr>
              </a:solidFill>
              <a:sym typeface="+mn-ea"/>
            </a:endParaRPr>
          </a:p>
          <a:p>
            <a:pPr>
              <a:lnSpc>
                <a:spcPct val="150000"/>
              </a:lnSpc>
              <a:spcBef>
                <a:spcPct val="0"/>
              </a:spcBef>
              <a:spcAft>
                <a:spcPct val="0"/>
              </a:spcAft>
            </a:pPr>
            <a:endParaRPr lang="en-US" dirty="0">
              <a:solidFill>
                <a:schemeClr val="accent4">
                  <a:lumMod val="50000"/>
                </a:schemeClr>
              </a:solidFill>
            </a:endParaRPr>
          </a:p>
        </p:txBody>
      </p:sp>
      <p:pic>
        <p:nvPicPr>
          <p:cNvPr id="2" name="Picture 1"/>
          <p:cNvPicPr>
            <a:picLocks noChangeAspect="1"/>
          </p:cNvPicPr>
          <p:nvPr/>
        </p:nvPicPr>
        <p:blipFill>
          <a:blip r:embed="rId1"/>
          <a:stretch>
            <a:fillRect/>
          </a:stretch>
        </p:blipFill>
        <p:spPr>
          <a:xfrm>
            <a:off x="382905" y="2545715"/>
            <a:ext cx="8069580" cy="35083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72515" y="1748155"/>
            <a:ext cx="7305675" cy="4140200"/>
          </a:xfrm>
          <a:prstGeom prst="rect">
            <a:avLst/>
          </a:prstGeom>
          <a:noFill/>
        </p:spPr>
        <p:txBody>
          <a:bodyPr wrap="square">
            <a:noAutofit/>
          </a:bodyPr>
          <a:lstStyle/>
          <a:p>
            <a:pPr>
              <a:buNone/>
            </a:pPr>
            <a:r>
              <a:rPr lang="en-US" b="1" dirty="0">
                <a:solidFill>
                  <a:schemeClr val="accent4">
                    <a:lumMod val="50000"/>
                  </a:schemeClr>
                </a:solidFill>
              </a:rPr>
              <a:t>Slide 9 – Conclusion</a:t>
            </a:r>
            <a:endParaRPr lang="en-US" b="1" dirty="0">
              <a:solidFill>
                <a:schemeClr val="accent4">
                  <a:lumMod val="50000"/>
                </a:schemeClr>
              </a:solidFill>
            </a:endParaRPr>
          </a:p>
          <a:p>
            <a:pPr>
              <a:buNone/>
            </a:pPr>
            <a:endParaRPr lang="en-US" b="1" dirty="0">
              <a:solidFill>
                <a:schemeClr val="accent4">
                  <a:lumMod val="50000"/>
                </a:schemeClr>
              </a:solidFill>
            </a:endParaRPr>
          </a:p>
          <a:p>
            <a:pPr algn="just">
              <a:buFont typeface="Arial" panose="020B0604020202020204" pitchFamily="34" charset="0"/>
              <a:buChar char="•"/>
            </a:pPr>
            <a:r>
              <a:rPr lang="en-US" altLang="en-US">
                <a:sym typeface="+mn-ea"/>
              </a:rPr>
              <a:t>The project successfully converts complex COVID-19 data into meaningful and easy-to-understand visual insights. By using AI-enhanced visualization techniques, the system improves data analysis and helps users identify trends and patterns more effectively. The developed dashboards are useful for students, researchers, and decision-makers to understand the impact of COVID-19. Overall, the project achieves its objectives and demonstrates the effectiveness of AI-based data visualization</a:t>
            </a:r>
            <a:endParaRPr lang="en-US" dirty="0">
              <a:solidFill>
                <a:schemeClr val="accent4">
                  <a:lumMod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0BCEE312-D377-4697-A13B-02932CBFB11D}" type="datetime1">
              <a:rPr lang="en-US" smtClean="0">
                <a:solidFill>
                  <a:prstClr val="black">
                    <a:tint val="75000"/>
                  </a:prstClr>
                </a:solidFill>
              </a:rPr>
            </a:fld>
            <a:endParaRPr lang="en-US">
              <a:solidFill>
                <a:prstClr val="black">
                  <a:tint val="75000"/>
                </a:prstClr>
              </a:solidFill>
            </a:endParaRPr>
          </a:p>
        </p:txBody>
      </p:sp>
      <p:sp>
        <p:nvSpPr>
          <p:cNvPr id="8" name="Slide Number Placeholder 7"/>
          <p:cNvSpPr>
            <a:spLocks noGrp="1"/>
          </p:cNvSpPr>
          <p:nvPr>
            <p:ph type="sldNum" sz="quarter" idx="12"/>
          </p:nvPr>
        </p:nvSpPr>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4269</Words>
  <Application>WPS Presentation</Application>
  <PresentationFormat>On-screen Show (4:3)</PresentationFormat>
  <Paragraphs>80</Paragraphs>
  <Slides>10</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SimSun</vt:lpstr>
      <vt:lpstr>Wingdings</vt:lpstr>
      <vt:lpstr>Calibri</vt:lpstr>
      <vt:lpstr>Poppins</vt:lpstr>
      <vt:lpstr>Segoe Print</vt:lpstr>
      <vt:lpstr>Times New Roman</vt:lpstr>
      <vt:lpstr>Microsoft YaHei</vt:lpstr>
      <vt:lpstr>Arial Unicode MS</vt:lpstr>
      <vt:lpstr>Calibri</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Gorantla Naveen Gorantla Navee</cp:lastModifiedBy>
  <cp:revision>148</cp:revision>
  <dcterms:created xsi:type="dcterms:W3CDTF">2023-01-22T02:22:00Z</dcterms:created>
  <dcterms:modified xsi:type="dcterms:W3CDTF">2026-01-05T05:39:24Z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0F02CFE1C5B6480C97D7EC2400FD913B_12</vt:lpwstr>
  </property>
  <property fmtid="{D5CDD505-2E9C-101B-9397-08002B2CF9AE}" pid="3" name="KSOProductBuildVer">
    <vt:lpwstr>1033-12.2.0.23196</vt:lpwstr>
  </property>
</Properties>
</file>