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8"/>
  </p:handoutMasterIdLst>
  <p:sldIdLst>
    <p:sldId id="271" r:id="rId3"/>
    <p:sldId id="305" r:id="rId5"/>
    <p:sldId id="306" r:id="rId6"/>
    <p:sldId id="307" r:id="rId7"/>
    <p:sldId id="308" r:id="rId8"/>
    <p:sldId id="317" r:id="rId9"/>
    <p:sldId id="309" r:id="rId10"/>
    <p:sldId id="310" r:id="rId11"/>
    <p:sldId id="311" r:id="rId12"/>
    <p:sldId id="312" r:id="rId13"/>
    <p:sldId id="313" r:id="rId14"/>
    <p:sldId id="314" r:id="rId15"/>
    <p:sldId id="315" r:id="rId16"/>
    <p:sldId id="31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F96779-8682-4CD9-90C2-D7A49281830D}">
          <p14:sldIdLst>
            <p14:sldId id="271"/>
            <p14:sldId id="305"/>
            <p14:sldId id="306"/>
            <p14:sldId id="307"/>
            <p14:sldId id="308"/>
            <p14:sldId id="317"/>
            <p14:sldId id="309"/>
            <p14:sldId id="310"/>
            <p14:sldId id="311"/>
            <p14:sldId id="312"/>
            <p14:sldId id="313"/>
            <p14:sldId id="314"/>
            <p14:sldId id="315"/>
            <p14:sldId id="318"/>
          </p14:sldIdLst>
        </p14:section>
        <p14:section name="Untitled Section" id="{18D748A1-B9CB-40AB-9130-D732C7E4D7E9}">
          <p14:sldIdLst/>
        </p14:section>
      </p14:sectionLst>
    </p:ext>
    <p:ext uri="{EFAFB233-063F-42B5-8137-9DF3F51BA10A}">
      <p15:sldGuideLst xmlns:p15="http://schemas.microsoft.com/office/powerpoint/2012/main">
        <p15:guide id="1" orient="horz" pos="2162" userDrawn="1">
          <p15:clr>
            <a:srgbClr val="A4A3A4"/>
          </p15:clr>
        </p15:guide>
        <p15:guide id="2" pos="284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DD8ACB-2480-836F-8513-F809A1C233EF}" name="Abraham Dinakaran J" initials="ADJ" userId="S::adinakaran@kluniversity.in::a265c4b0-0b4d-41cc-8169-c05df22ffe7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6" d="100"/>
          <a:sy n="106" d="100"/>
        </p:scale>
        <p:origin x="1764" y="96"/>
      </p:cViewPr>
      <p:guideLst>
        <p:guide orient="horz" pos="2162"/>
        <p:guide pos="284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microsoft.com/office/2018/10/relationships/authors" Targe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2FC287-3538-4997-9970-44BF1FF30DD5}" type="datetime1">
              <a:rPr lang="en-IN"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1FDA32-7B86-4AE0-9240-7E2DEEC04CE4}" type="slidenum">
              <a:rPr lang="en-US" smtClean="0"/>
            </a:fld>
            <a:endParaRPr lang="en-US"/>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1657D-0517-4C9F-B58C-7229AAFEBC31}" type="datetime1">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A71A4B-7F78-4497-A7BB-B19313066BC2}" type="slidenum">
              <a:rPr lang="en-IN" smtClean="0"/>
            </a:fld>
            <a:endParaRPr lang="en-IN"/>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p:cNvSpPr>
            <a:spLocks noGrp="1"/>
          </p:cNvSpPr>
          <p:nvPr>
            <p:ph type="dt" idx="1"/>
          </p:nvPr>
        </p:nvSpPr>
        <p:spPr/>
        <p:txBody>
          <a:bodyPr/>
          <a:lstStyle/>
          <a:p>
            <a:fld id="{3E581EE8-6511-46D3-8A2A-80CFF2C8D0A3}" type="datetime1">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a:p>
        </p:txBody>
      </p:sp>
      <p:sp>
        <p:nvSpPr>
          <p:cNvPr id="4" name="Date Placeholder 3"/>
          <p:cNvSpPr>
            <a:spLocks noGrp="1"/>
          </p:cNvSpPr>
          <p:nvPr>
            <p:ph type="dt" sz="half" idx="10"/>
          </p:nvPr>
        </p:nvSpPr>
        <p:spPr>
          <a:xfrm>
            <a:off x="990600" y="6526385"/>
            <a:ext cx="1200150" cy="266702"/>
          </a:xfrm>
          <a:prstGeom prst="rect">
            <a:avLst/>
          </a:prstGeom>
        </p:spPr>
        <p:txBody>
          <a:bodyPr/>
          <a:lstStyle>
            <a:lvl1pPr>
              <a:defRPr sz="900"/>
            </a:lvl1pPr>
          </a:lstStyle>
          <a:p>
            <a:fld id="{8453BCF2-CB48-4BA2-A036-8950CD1C6A93}" type="datetime1">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a:xfrm>
            <a:off x="5943600" y="642796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4191000" y="6535592"/>
            <a:ext cx="457200" cy="266701"/>
          </a:xfrm>
          <a:prstGeom prst="rect">
            <a:avLst/>
          </a:prstGeom>
        </p:spPr>
        <p:txBody>
          <a:bodyPr/>
          <a:lstStyle>
            <a:lvl1pPr>
              <a:defRPr sz="900"/>
            </a:lvl1pPr>
          </a:lstStyle>
          <a:p>
            <a:fld id="{B3561BA9-CDCF-4958-B8AB-66F3BF063E1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492875"/>
            <a:ext cx="1123950" cy="267280"/>
          </a:xfrm>
          <a:prstGeom prst="rect">
            <a:avLst/>
          </a:prstGeom>
        </p:spPr>
        <p:txBody>
          <a:bodyPr/>
          <a:lstStyle>
            <a:lvl1pPr>
              <a:defRPr sz="900"/>
            </a:lvl1pPr>
          </a:lstStyle>
          <a:p>
            <a:fld id="{F0926A81-3A46-4B7B-A2F8-E2A558D9191F}" type="datetime1">
              <a:rPr lang="en-US" smtClean="0">
                <a:solidFill>
                  <a:prstClr val="black">
                    <a:tint val="75000"/>
                  </a:prstClr>
                </a:solidFill>
              </a:rPr>
            </a:fld>
            <a:endParaRPr lang="en-US" dirty="0">
              <a:solidFill>
                <a:prstClr val="black">
                  <a:tint val="75000"/>
                </a:prstClr>
              </a:solidFill>
            </a:endParaRPr>
          </a:p>
        </p:txBody>
      </p:sp>
      <p:sp>
        <p:nvSpPr>
          <p:cNvPr id="6" name="Slide Number Placeholder 5"/>
          <p:cNvSpPr>
            <a:spLocks noGrp="1"/>
          </p:cNvSpPr>
          <p:nvPr>
            <p:ph type="sldNum" sz="quarter" idx="12"/>
          </p:nvPr>
        </p:nvSpPr>
        <p:spPr>
          <a:xfrm>
            <a:off x="3962400" y="6492875"/>
            <a:ext cx="2057400" cy="365125"/>
          </a:xfrm>
          <a:prstGeom prst="rect">
            <a:avLst/>
          </a:prstGeom>
        </p:spPr>
        <p:txBody>
          <a:bodyPr/>
          <a:lstStyle>
            <a:lvl1pPr>
              <a:defRPr sz="900"/>
            </a:lvl1pPr>
          </a:lstStyle>
          <a:p>
            <a:fld id="{B3561BA9-CDCF-4958-B8AB-66F3BF063E1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endParaRPr lang="en-US"/>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7497C174-5A51-4D18-8F67-D9F14D2F34C3}"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1CE59E2F-5892-435A-AE19-CDF7821064E4}"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BEFAB2A4-D3CE-4715-B935-416579E77195}" type="datetime1">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AB65A450-9487-4E64-AB52-9E7DA1C37762}"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6C014150-8307-4D3C-BBBB-0734CBD939B0}" type="datetime1">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endParaRPr lang="en-US"/>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D880DA0-68D9-4E75-BA39-DC1403DEB0D4}"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B4E1A77-28DA-48C1-B06D-78B5B0A2C0A2}"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96EF5A3-7886-44C2-92BF-298F6F904133}"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matchingName="Title and Content">
  <p:cSld name="1_Title and Content">
    <p:spTree>
      <p:nvGrpSpPr>
        <p:cNvPr id="1"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jpeg"/><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sp>
        <p:nvSpPr>
          <p:cNvPr id="2" name="Rectangle 1"/>
          <p:cNvSpPr/>
          <p:nvPr userDrawn="1"/>
        </p:nvSpPr>
        <p:spPr>
          <a:xfrm>
            <a:off x="0" y="6812282"/>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userDrawn="1"/>
        </p:nvSpPr>
        <p:spPr>
          <a:xfrm>
            <a:off x="0" y="1"/>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Background pattern&#10;&#10;Description automatically generated"/>
          <p:cNvPicPr>
            <a:picLocks noChangeAspect="1"/>
          </p:cNvPicPr>
          <p:nvPr userDrawn="1"/>
        </p:nvPicPr>
        <p:blipFill rotWithShape="1">
          <a:blip r:embed="rId12">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4419600" y="3179470"/>
            <a:ext cx="4648200" cy="3588778"/>
          </a:xfrm>
          <a:prstGeom prst="rect">
            <a:avLst/>
          </a:prstGeom>
        </p:spPr>
      </p:pic>
      <p:sp>
        <p:nvSpPr>
          <p:cNvPr id="7" name="TextBox 6"/>
          <p:cNvSpPr txBox="1"/>
          <p:nvPr userDrawn="1"/>
        </p:nvSpPr>
        <p:spPr>
          <a:xfrm>
            <a:off x="1" y="6602979"/>
            <a:ext cx="1599051" cy="184666"/>
          </a:xfrm>
          <a:prstGeom prst="rect">
            <a:avLst/>
          </a:prstGeom>
          <a:noFill/>
        </p:spPr>
        <p:txBody>
          <a:bodyPr wrap="square" rtlCol="0">
            <a:spAutoFit/>
          </a:bodyPr>
          <a:lstStyle/>
          <a:p>
            <a:r>
              <a:rPr lang="en-US" sz="600">
                <a:solidFill>
                  <a:schemeClr val="bg1">
                    <a:lumMod val="95000"/>
                  </a:schemeClr>
                </a:solidFill>
              </a:rPr>
              <a:t>CREATED BY K. VICTOR BABU</a:t>
            </a:r>
            <a:endParaRPr lang="en-US" sz="600">
              <a:solidFill>
                <a:schemeClr val="bg1">
                  <a:lumMod val="95000"/>
                </a:schemeClr>
              </a:solidFill>
            </a:endParaRPr>
          </a:p>
        </p:txBody>
      </p:sp>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45720"/>
            <a:ext cx="838201" cy="792479"/>
          </a:xfrm>
          <a:prstGeom prst="rect">
            <a:avLst/>
          </a:prstGeom>
        </p:spPr>
      </p:pic>
      <p:pic>
        <p:nvPicPr>
          <p:cNvPr id="13" name="Picture 1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710196" y="6400799"/>
            <a:ext cx="2331280" cy="343587"/>
          </a:xfrm>
          <a:prstGeom prst="rect">
            <a:avLst/>
          </a:prstGeom>
        </p:spPr>
      </p:pic>
      <p:pic>
        <p:nvPicPr>
          <p:cNvPr id="16" name="Picture 1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227828" y="228600"/>
            <a:ext cx="458972" cy="45636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19" name="Rectangle: Rounded Corners 18"/>
          <p:cNvSpPr/>
          <p:nvPr/>
        </p:nvSpPr>
        <p:spPr>
          <a:xfrm>
            <a:off x="3124200" y="1115413"/>
            <a:ext cx="3364748" cy="431074"/>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475" name="Google Shape;475;p16"/>
          <p:cNvSpPr txBox="1"/>
          <p:nvPr/>
        </p:nvSpPr>
        <p:spPr>
          <a:xfrm>
            <a:off x="2492519" y="1051115"/>
            <a:ext cx="4382085" cy="530884"/>
          </a:xfrm>
          <a:prstGeom prst="rect">
            <a:avLst/>
          </a:prstGeom>
          <a:noFill/>
          <a:ln>
            <a:noFill/>
          </a:ln>
          <a:effectLst/>
        </p:spPr>
        <p:txBody>
          <a:bodyPr spcFirstLastPara="1" wrap="square" lIns="68569" tIns="34275" rIns="68569" bIns="34275" anchor="t" anchorCtr="0">
            <a:spAutoFit/>
          </a:bodyPr>
          <a:lstStyle/>
          <a:p>
            <a:pPr algn="ctr" defTabSz="685800"/>
            <a:r>
              <a:rPr lang="en-US" sz="3000" dirty="0">
                <a:solidFill>
                  <a:srgbClr val="C00000"/>
                </a:solidFill>
                <a:latin typeface="Calibri" panose="020F0502020204030204"/>
                <a:cs typeface="Poppins" pitchFamily="2" charset="77"/>
              </a:rPr>
              <a:t>  Department of MCA</a:t>
            </a:r>
            <a:endParaRPr lang="en-US" sz="3000" dirty="0">
              <a:solidFill>
                <a:srgbClr val="C00000"/>
              </a:solidFill>
              <a:latin typeface="Calibri" panose="020F0502020204030204"/>
              <a:cs typeface="Poppins" pitchFamily="2" charset="77"/>
            </a:endParaRPr>
          </a:p>
        </p:txBody>
      </p:sp>
      <p:sp>
        <p:nvSpPr>
          <p:cNvPr id="4" name="TextBox 3"/>
          <p:cNvSpPr txBox="1"/>
          <p:nvPr/>
        </p:nvSpPr>
        <p:spPr>
          <a:xfrm>
            <a:off x="609600" y="1828800"/>
            <a:ext cx="8299450" cy="1938020"/>
          </a:xfrm>
          <a:prstGeom prst="rect">
            <a:avLst/>
          </a:prstGeom>
          <a:noFill/>
        </p:spPr>
        <p:txBody>
          <a:bodyPr wrap="square">
            <a:spAutoFit/>
          </a:bodyPr>
          <a:lstStyle/>
          <a:p>
            <a:pPr algn="ctr"/>
            <a:br>
              <a:rPr lang="en-US" sz="2400" dirty="0">
                <a:solidFill>
                  <a:schemeClr val="accent4">
                    <a:lumMod val="50000"/>
                  </a:schemeClr>
                </a:solidFill>
                <a:latin typeface="Times New Roman" panose="02020603050405020304" pitchFamily="18" charset="0"/>
                <a:cs typeface="Times New Roman" panose="02020603050405020304" pitchFamily="18" charset="0"/>
              </a:rPr>
            </a:br>
            <a:r>
              <a:rPr lang="en-US" sz="2400" dirty="0">
                <a:solidFill>
                  <a:schemeClr val="accent4">
                    <a:lumMod val="50000"/>
                  </a:schemeClr>
                </a:solidFill>
                <a:latin typeface="Times New Roman" panose="02020603050405020304" pitchFamily="18" charset="0"/>
                <a:cs typeface="Times New Roman" panose="02020603050405020304" pitchFamily="18" charset="0"/>
              </a:rPr>
              <a:t>AI-ENCHANCED DATA VISUALIZATION BY USING POWER BI</a:t>
            </a:r>
            <a:br>
              <a:rPr lang="en-US" sz="2400" dirty="0">
                <a:solidFill>
                  <a:schemeClr val="accent4">
                    <a:lumMod val="50000"/>
                  </a:schemeClr>
                </a:solidFill>
                <a:latin typeface="Times New Roman" panose="02020603050405020304" pitchFamily="18" charset="0"/>
                <a:cs typeface="Times New Roman" panose="02020603050405020304" pitchFamily="18" charset="0"/>
              </a:rPr>
            </a:br>
            <a:br>
              <a:rPr lang="en-US" sz="2400" dirty="0">
                <a:solidFill>
                  <a:schemeClr val="accent4">
                    <a:lumMod val="50000"/>
                  </a:schemeClr>
                </a:solidFill>
                <a:latin typeface="Times New Roman" panose="02020603050405020304" pitchFamily="18" charset="0"/>
                <a:cs typeface="Times New Roman" panose="02020603050405020304" pitchFamily="18" charset="0"/>
              </a:rPr>
            </a:br>
            <a:r>
              <a:rPr lang="en-US" sz="2400" dirty="0">
                <a:solidFill>
                  <a:schemeClr val="accent4">
                    <a:lumMod val="50000"/>
                  </a:schemeClr>
                </a:solidFill>
                <a:latin typeface="Times New Roman" panose="02020603050405020304" pitchFamily="18" charset="0"/>
                <a:cs typeface="Times New Roman" panose="02020603050405020304" pitchFamily="18" charset="0"/>
              </a:rPr>
              <a:t>Under the Guidance of  Dr.Kalimuthu </a:t>
            </a:r>
            <a:endParaRPr lang="en-US" sz="24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6393815" y="4267200"/>
            <a:ext cx="2480945" cy="1476375"/>
          </a:xfrm>
          <a:prstGeom prst="rect">
            <a:avLst/>
          </a:prstGeom>
          <a:noFill/>
        </p:spPr>
        <p:txBody>
          <a:bodyPr wrap="square">
            <a:spAutoFit/>
          </a:bodyPr>
          <a:lstStyle/>
          <a:p>
            <a:r>
              <a:rPr lang="en-US" dirty="0">
                <a:solidFill>
                  <a:schemeClr val="accent1">
                    <a:lumMod val="50000"/>
                  </a:schemeClr>
                </a:solidFill>
              </a:rPr>
              <a:t>By :</a:t>
            </a:r>
            <a:endParaRPr lang="en-US" dirty="0">
              <a:solidFill>
                <a:schemeClr val="accent1">
                  <a:lumMod val="50000"/>
                </a:schemeClr>
              </a:solidFill>
            </a:endParaRPr>
          </a:p>
          <a:p>
            <a:r>
              <a:rPr lang="en-US" dirty="0">
                <a:solidFill>
                  <a:schemeClr val="accent1">
                    <a:lumMod val="50000"/>
                  </a:schemeClr>
                </a:solidFill>
              </a:rPr>
              <a:t>Gorantla Naveen</a:t>
            </a:r>
            <a:endParaRPr lang="en-US" dirty="0">
              <a:solidFill>
                <a:schemeClr val="accent1">
                  <a:lumMod val="50000"/>
                </a:schemeClr>
              </a:solidFill>
            </a:endParaRPr>
          </a:p>
          <a:p>
            <a:r>
              <a:rPr lang="en-US" dirty="0">
                <a:solidFill>
                  <a:schemeClr val="accent1">
                    <a:lumMod val="50000"/>
                  </a:schemeClr>
                </a:solidFill>
              </a:rPr>
              <a:t>2401600196</a:t>
            </a:r>
            <a:endParaRPr lang="en-US" dirty="0">
              <a:solidFill>
                <a:schemeClr val="accent1">
                  <a:lumMod val="50000"/>
                </a:schemeClr>
              </a:solidFill>
            </a:endParaRPr>
          </a:p>
          <a:p>
            <a:r>
              <a:rPr lang="en-US" dirty="0">
                <a:solidFill>
                  <a:schemeClr val="accent1">
                    <a:lumMod val="50000"/>
                  </a:schemeClr>
                </a:solidFill>
              </a:rPr>
              <a:t>Dept. of MCA.</a:t>
            </a:r>
            <a:br>
              <a:rPr lang="en-US" dirty="0">
                <a:solidFill>
                  <a:schemeClr val="accent1">
                    <a:lumMod val="50000"/>
                  </a:schemeClr>
                </a:solidFill>
              </a:rPr>
            </a:br>
            <a:r>
              <a:rPr lang="en-US" dirty="0">
                <a:solidFill>
                  <a:schemeClr val="accent1">
                    <a:lumMod val="50000"/>
                  </a:schemeClr>
                </a:solidFill>
              </a:rPr>
              <a:t>KL University.</a:t>
            </a:r>
            <a:endParaRPr lang="en-US" dirty="0">
              <a:solidFill>
                <a:schemeClr val="accent1">
                  <a:lumMod val="50000"/>
                </a:schemeClr>
              </a:solidFil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5955" y="732790"/>
            <a:ext cx="6049645" cy="834390"/>
          </a:xfrm>
          <a:prstGeom prst="rect">
            <a:avLst/>
          </a:prstGeom>
          <a:noFill/>
        </p:spPr>
        <p:txBody>
          <a:bodyPr wrap="square">
            <a:noAutofit/>
          </a:bodyPr>
          <a:lstStyle/>
          <a:p>
            <a:br>
              <a:rPr lang="en-US" dirty="0">
                <a:solidFill>
                  <a:schemeClr val="accent4">
                    <a:lumMod val="50000"/>
                  </a:schemeClr>
                </a:solidFill>
              </a:rPr>
            </a:br>
            <a:r>
              <a:rPr lang="en-US" b="1" dirty="0"/>
              <a:t>Introduction:</a:t>
            </a:r>
            <a:endParaRPr lang="en-US" dirty="0"/>
          </a:p>
          <a:p>
            <a:br>
              <a:rPr lang="en-US" dirty="0"/>
            </a:br>
            <a:br>
              <a:rPr lang="en-US" dirty="0"/>
            </a:br>
            <a:endParaRPr lang="en-US" dirty="0">
              <a:solidFill>
                <a:schemeClr val="accent4">
                  <a:lumMod val="50000"/>
                </a:schemeClr>
              </a:solidFill>
            </a:endParaRPr>
          </a:p>
          <a:p>
            <a:endParaRPr lang="en-US" dirty="0">
              <a:solidFill>
                <a:schemeClr val="accent4">
                  <a:lumMod val="50000"/>
                </a:schemeClr>
              </a:solidFill>
            </a:endParaRPr>
          </a:p>
        </p:txBody>
      </p:sp>
      <p:sp>
        <p:nvSpPr>
          <p:cNvPr id="5" name="TextBox 4"/>
          <p:cNvSpPr txBox="1"/>
          <p:nvPr/>
        </p:nvSpPr>
        <p:spPr>
          <a:xfrm>
            <a:off x="594995" y="1640205"/>
            <a:ext cx="7907655" cy="4318635"/>
          </a:xfrm>
          <a:prstGeom prst="rect">
            <a:avLst/>
          </a:prstGeom>
          <a:noFill/>
        </p:spPr>
        <p:txBody>
          <a:bodyPr wrap="square">
            <a:noAutofit/>
          </a:bodyPr>
          <a:lstStyle/>
          <a:p>
            <a:pPr indent="0">
              <a:buFont typeface="Arial" panose="020B0604020202020204" pitchFamily="34" charset="0"/>
              <a:buNone/>
            </a:pPr>
            <a:r>
              <a:rPr lang="en-US" altLang="en-US" b="1" dirty="0"/>
              <a:t>Problem statement :</a:t>
            </a:r>
            <a:endParaRPr lang="en-US" altLang="en-US" b="1" dirty="0"/>
          </a:p>
          <a:p>
            <a:pPr indent="0">
              <a:buFont typeface="Arial" panose="020B0604020202020204" pitchFamily="34" charset="0"/>
              <a:buNone/>
            </a:pPr>
            <a:endParaRPr lang="en-US" altLang="en-US" dirty="0"/>
          </a:p>
          <a:p>
            <a:pPr indent="0">
              <a:buFont typeface="Arial" panose="020B0604020202020204" pitchFamily="34" charset="0"/>
              <a:buNone/>
            </a:pPr>
            <a:r>
              <a:rPr lang="en-US" altLang="en-US" dirty="0"/>
              <a:t>Nowadays, a large amount of data is generated, but it is difficult to understand in raw form. Traditional tools cannot easily show clear insights, and many users face problems in analyzing data. This leads to poor decision-making.</a:t>
            </a:r>
            <a:endParaRPr lang="en-US" altLang="en-US" dirty="0"/>
          </a:p>
          <a:p>
            <a:pPr indent="0">
              <a:buFont typeface="Arial" panose="020B0604020202020204" pitchFamily="34" charset="0"/>
              <a:buNone/>
            </a:pPr>
            <a:endParaRPr lang="en-US" altLang="en-US" dirty="0"/>
          </a:p>
          <a:p>
            <a:pPr indent="0">
              <a:buFont typeface="Arial" panose="020B0604020202020204" pitchFamily="34" charset="0"/>
              <a:buNone/>
            </a:pPr>
            <a:r>
              <a:rPr lang="en-US" altLang="en-US" b="1" dirty="0"/>
              <a:t>Why this project?:</a:t>
            </a:r>
            <a:endParaRPr lang="en-US" altLang="en-US" b="1" dirty="0"/>
          </a:p>
          <a:p>
            <a:pPr indent="0">
              <a:buFont typeface="Arial" panose="020B0604020202020204" pitchFamily="34" charset="0"/>
              <a:buNone/>
            </a:pPr>
            <a:endParaRPr lang="en-US" altLang="en-US" dirty="0"/>
          </a:p>
          <a:p>
            <a:pPr indent="0">
              <a:buFont typeface="Arial" panose="020B0604020202020204" pitchFamily="34" charset="0"/>
              <a:buNone/>
            </a:pPr>
            <a:r>
              <a:rPr lang="en-US" altLang="en-US" dirty="0"/>
              <a:t>This project is used to make data simple and easy to understand using Power BI with AI features.</a:t>
            </a:r>
            <a:endParaRPr lang="en-US" altLang="en-US" dirty="0"/>
          </a:p>
          <a:p>
            <a:pPr indent="0">
              <a:buFont typeface="Arial" panose="020B0604020202020204" pitchFamily="34" charset="0"/>
              <a:buNone/>
            </a:pPr>
            <a:endParaRPr lang="en-US" altLang="en-US" dirty="0"/>
          </a:p>
          <a:p>
            <a:pPr indent="0">
              <a:buFont typeface="Arial" panose="020B0604020202020204" pitchFamily="34" charset="0"/>
              <a:buNone/>
            </a:pPr>
            <a:r>
              <a:rPr lang="en-US" altLang="en-US" dirty="0"/>
              <a:t>To convert raw data into clear visuals</a:t>
            </a:r>
            <a:endParaRPr lang="en-US" altLang="en-US" dirty="0"/>
          </a:p>
          <a:p>
            <a:pPr indent="0">
              <a:buFont typeface="Arial" panose="020B0604020202020204" pitchFamily="34" charset="0"/>
              <a:buNone/>
            </a:pPr>
            <a:r>
              <a:rPr lang="en-US" altLang="en-US" dirty="0"/>
              <a:t>To provide smart insights and predictions</a:t>
            </a:r>
            <a:endParaRPr lang="en-US" altLang="en-US" dirty="0"/>
          </a:p>
          <a:p>
            <a:pPr indent="0">
              <a:buFont typeface="Arial" panose="020B0604020202020204" pitchFamily="34" charset="0"/>
              <a:buNone/>
            </a:pPr>
            <a:r>
              <a:rPr lang="en-US" altLang="en-US" dirty="0"/>
              <a:t>To help users understand data easily</a:t>
            </a:r>
            <a:endParaRPr lang="en-US" altLang="en-US" dirty="0"/>
          </a:p>
          <a:p>
            <a:pPr indent="0">
              <a:buFont typeface="Arial" panose="020B0604020202020204" pitchFamily="34" charset="0"/>
              <a:buNone/>
            </a:pPr>
            <a:r>
              <a:rPr lang="en-US" altLang="en-US" dirty="0"/>
              <a:t>To improve decision-making</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47800" y="1828800"/>
            <a:ext cx="6707505" cy="3839845"/>
          </a:xfrm>
          <a:prstGeom prst="rect">
            <a:avLst/>
          </a:prstGeom>
          <a:noFill/>
        </p:spPr>
        <p:txBody>
          <a:bodyPr wrap="square">
            <a:noAutofit/>
          </a:bodyPr>
          <a:lstStyle/>
          <a:p>
            <a:pPr>
              <a:buNone/>
            </a:pPr>
            <a:endParaRPr lang="en-US" b="1" dirty="0">
              <a:solidFill>
                <a:schemeClr val="accent4">
                  <a:lumMod val="50000"/>
                </a:schemeClr>
              </a:solidFill>
            </a:endParaRPr>
          </a:p>
          <a:p>
            <a:r>
              <a:rPr lang="en-US" b="1" dirty="0"/>
              <a:t>Objectives:</a:t>
            </a:r>
            <a:endParaRPr lang="en-US" b="1"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altLang="en-US" dirty="0"/>
              <a:t>To change raw data into simple charts</a:t>
            </a:r>
            <a:endParaRPr lang="en-US" altLang="en-US" dirty="0"/>
          </a:p>
          <a:p>
            <a:pPr marL="285750" indent="-285750">
              <a:buFont typeface="Arial" panose="020B0604020202020204" pitchFamily="34" charset="0"/>
              <a:buChar char="•"/>
            </a:pPr>
            <a:r>
              <a:rPr lang="en-US" altLang="en-US" dirty="0"/>
              <a:t>To make data easy to understand</a:t>
            </a:r>
            <a:endParaRPr lang="en-US" altLang="en-US" dirty="0"/>
          </a:p>
          <a:p>
            <a:pPr marL="285750" indent="-285750">
              <a:buFont typeface="Arial" panose="020B0604020202020204" pitchFamily="34" charset="0"/>
              <a:buChar char="•"/>
            </a:pPr>
            <a:r>
              <a:rPr lang="en-US" altLang="en-US" dirty="0"/>
              <a:t>To use AI for better insights</a:t>
            </a:r>
            <a:endParaRPr lang="en-US" altLang="en-US" dirty="0"/>
          </a:p>
          <a:p>
            <a:pPr marL="285750" indent="-285750">
              <a:buFont typeface="Arial" panose="020B0604020202020204" pitchFamily="34" charset="0"/>
              <a:buChar char="•"/>
            </a:pPr>
            <a:r>
              <a:rPr lang="en-US" altLang="en-US" dirty="0"/>
              <a:t>To create dashboards in Power BI</a:t>
            </a:r>
            <a:endParaRPr lang="en-US" altLang="en-US" dirty="0"/>
          </a:p>
          <a:p>
            <a:pPr marL="285750" indent="-285750">
              <a:buFont typeface="Arial" panose="020B0604020202020204" pitchFamily="34" charset="0"/>
              <a:buChar char="•"/>
            </a:pPr>
            <a:r>
              <a:rPr lang="en-US" altLang="en-US" dirty="0"/>
              <a:t>To help in making good decisions</a:t>
            </a:r>
            <a:endParaRPr lang="en-US" altLang="en-US" dirty="0"/>
          </a:p>
          <a:p>
            <a:pPr>
              <a:buFont typeface="Arial" panose="020B0604020202020204" pitchFamily="34" charset="0"/>
              <a:buChar char="•"/>
            </a:pPr>
            <a:endParaRPr lang="en-US" dirty="0">
              <a:solidFill>
                <a:schemeClr val="accent4">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93470" y="1183640"/>
            <a:ext cx="7562215" cy="4575175"/>
          </a:xfrm>
          <a:prstGeom prst="rect">
            <a:avLst/>
          </a:prstGeom>
          <a:noFill/>
        </p:spPr>
        <p:txBody>
          <a:bodyPr wrap="square">
            <a:noAutofit/>
          </a:bodyPr>
          <a:lstStyle/>
          <a:p>
            <a:r>
              <a:rPr lang="en-US" b="1" dirty="0"/>
              <a:t>Literature Survey:</a:t>
            </a:r>
            <a:endParaRPr lang="en-US" b="1" dirty="0"/>
          </a:p>
          <a:p>
            <a:endParaRPr lang="en-US" b="1" dirty="0"/>
          </a:p>
          <a:p>
            <a:r>
              <a:rPr lang="en-US" altLang="en-US" dirty="0"/>
              <a:t>Many researchers have worked on data visualization to make data easy to understand. Traditional tools help in creating charts and graphs, but they do not provide smart insights.</a:t>
            </a:r>
            <a:endParaRPr lang="en-US" altLang="en-US" dirty="0"/>
          </a:p>
          <a:p>
            <a:endParaRPr lang="en-US" altLang="en-US" dirty="0"/>
          </a:p>
          <a:p>
            <a:r>
              <a:rPr lang="en-US" altLang="en-US" dirty="0"/>
              <a:t>Recent studies focus on using AI with data visualization. AI helps in finding patterns, predicting trends, and giving better insights. Tools like Power BI provide features such as dashboards, reports, and real-time analysis.</a:t>
            </a:r>
            <a:endParaRPr lang="en-US" altLang="en-US" dirty="0"/>
          </a:p>
          <a:p>
            <a:endParaRPr lang="en-US" altLang="en-US" dirty="0"/>
          </a:p>
          <a:p>
            <a:r>
              <a:rPr lang="en-US" altLang="en-US" dirty="0"/>
              <a:t>From the study, it is clear that combining AI with visualization improves decision-making and makes data more useful</a:t>
            </a:r>
            <a:endParaRPr lang="en-US" altLang="en-US" dirty="0"/>
          </a:p>
          <a:p>
            <a:pPr>
              <a:buNone/>
            </a:pPr>
            <a:endParaRPr lang="en-US" dirty="0">
              <a:solidFill>
                <a:schemeClr val="accent4">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2650" y="1352550"/>
            <a:ext cx="7708900" cy="2981960"/>
          </a:xfrm>
          <a:prstGeom prst="rect">
            <a:avLst/>
          </a:prstGeom>
          <a:noFill/>
        </p:spPr>
        <p:txBody>
          <a:bodyPr wrap="square">
            <a:noAutofit/>
          </a:bodyPr>
          <a:lstStyle/>
          <a:p>
            <a:r>
              <a:rPr lang="en-US" b="1" dirty="0"/>
              <a:t>Methodology:</a:t>
            </a: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altLang="en-US" dirty="0"/>
              <a:t>Collect data from different sources</a:t>
            </a:r>
            <a:endParaRPr lang="en-US" altLang="en-US" dirty="0"/>
          </a:p>
          <a:p>
            <a:pPr marL="285750" indent="-285750">
              <a:buFont typeface="Arial" panose="020B0604020202020204" pitchFamily="34" charset="0"/>
              <a:buChar char="•"/>
            </a:pPr>
            <a:r>
              <a:rPr lang="en-US" altLang="en-US" dirty="0"/>
              <a:t>Clean and organize the data</a:t>
            </a:r>
            <a:endParaRPr lang="en-US" altLang="en-US" dirty="0"/>
          </a:p>
          <a:p>
            <a:pPr marL="285750" indent="-285750">
              <a:buFont typeface="Arial" panose="020B0604020202020204" pitchFamily="34" charset="0"/>
              <a:buChar char="•"/>
            </a:pPr>
            <a:r>
              <a:rPr lang="en-US" altLang="en-US" dirty="0"/>
              <a:t>Load data into Power BI</a:t>
            </a:r>
            <a:endParaRPr lang="en-US" altLang="en-US" dirty="0"/>
          </a:p>
          <a:p>
            <a:pPr marL="285750" indent="-285750">
              <a:buFont typeface="Arial" panose="020B0604020202020204" pitchFamily="34" charset="0"/>
              <a:buChar char="•"/>
            </a:pPr>
            <a:r>
              <a:rPr lang="en-US" altLang="en-US" dirty="0"/>
              <a:t>Create charts and dashboards</a:t>
            </a:r>
            <a:endParaRPr lang="en-US" altLang="en-US" dirty="0"/>
          </a:p>
          <a:p>
            <a:pPr marL="285750" indent="-285750">
              <a:buFont typeface="Arial" panose="020B0604020202020204" pitchFamily="34" charset="0"/>
              <a:buChar char="•"/>
            </a:pPr>
            <a:r>
              <a:rPr lang="en-US" altLang="en-US" dirty="0"/>
              <a:t>Use AI features for insights and predictions</a:t>
            </a:r>
            <a:endParaRPr lang="en-US" altLang="en-US" dirty="0"/>
          </a:p>
          <a:p>
            <a:pPr marL="285750" indent="-285750">
              <a:buFont typeface="Arial" panose="020B0604020202020204" pitchFamily="34" charset="0"/>
              <a:buChar char="•"/>
            </a:pPr>
            <a:r>
              <a:rPr lang="en-US" altLang="en-US" dirty="0"/>
              <a:t>Analyze results and make decisions</a:t>
            </a:r>
            <a:endParaRPr lang="en-US" altLang="en-US" b="1" dirty="0"/>
          </a:p>
          <a:p>
            <a:endParaRPr lang="en-US" altLang="en-US" b="1" dirty="0"/>
          </a:p>
          <a:p>
            <a:endParaRPr lang="en-US" b="1" dirty="0"/>
          </a:p>
          <a:p>
            <a:endParaRPr lang="en-US" dirty="0"/>
          </a:p>
          <a:p>
            <a:endParaRPr lang="en-US" dirty="0">
              <a:solidFill>
                <a:schemeClr val="accent4">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91235" y="510540"/>
            <a:ext cx="7849870" cy="5842000"/>
          </a:xfrm>
          <a:prstGeom prst="rect">
            <a:avLst/>
          </a:prstGeom>
          <a:noFill/>
        </p:spPr>
        <p:txBody>
          <a:bodyPr wrap="square" rtlCol="0">
            <a:noAutofit/>
          </a:bodyPr>
          <a:p>
            <a:r>
              <a:rPr lang="en-US" b="1"/>
              <a:t>Flow Chart:</a:t>
            </a:r>
            <a:endParaRPr lang="en-US" b="1"/>
          </a:p>
          <a:p>
            <a:endParaRPr lang="en-US" b="1"/>
          </a:p>
          <a:p>
            <a:endParaRPr lang="en-US" b="1"/>
          </a:p>
        </p:txBody>
      </p:sp>
      <p:pic>
        <p:nvPicPr>
          <p:cNvPr id="3" name="Picture 2"/>
          <p:cNvPicPr>
            <a:picLocks noChangeAspect="1"/>
          </p:cNvPicPr>
          <p:nvPr/>
        </p:nvPicPr>
        <p:blipFill>
          <a:blip r:embed="rId1"/>
          <a:stretch>
            <a:fillRect/>
          </a:stretch>
        </p:blipFill>
        <p:spPr>
          <a:xfrm>
            <a:off x="818515" y="990600"/>
            <a:ext cx="3940810" cy="46755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20750" y="838200"/>
            <a:ext cx="6641465" cy="3188970"/>
          </a:xfrm>
          <a:prstGeom prst="rect">
            <a:avLst/>
          </a:prstGeom>
          <a:noFill/>
        </p:spPr>
        <p:txBody>
          <a:bodyPr wrap="square">
            <a:noAutofit/>
          </a:bodyPr>
          <a:lstStyle/>
          <a:p>
            <a:r>
              <a:rPr lang="fr-FR" b="1" dirty="0"/>
              <a:t>Technologies </a:t>
            </a:r>
            <a:r>
              <a:rPr lang="fr-FR" b="1" dirty="0" err="1"/>
              <a:t>Used</a:t>
            </a:r>
            <a:endParaRPr lang="fr-FR" b="1" dirty="0"/>
          </a:p>
          <a:p>
            <a:endParaRPr lang="fr-FR" b="1" dirty="0"/>
          </a:p>
          <a:p>
            <a:endParaRPr lang="fr-FR" dirty="0"/>
          </a:p>
          <a:p>
            <a:r>
              <a:rPr lang="en-US" altLang="en-US" b="1" dirty="0"/>
              <a:t>Power BI</a:t>
            </a:r>
            <a:r>
              <a:rPr lang="en-US" altLang="en-US" dirty="0"/>
              <a:t> – For data visualization and dashboard creation</a:t>
            </a:r>
            <a:endParaRPr lang="en-US" altLang="en-US" dirty="0"/>
          </a:p>
          <a:p>
            <a:endParaRPr lang="en-US" altLang="en-US" dirty="0"/>
          </a:p>
          <a:p>
            <a:r>
              <a:rPr lang="en-US" altLang="en-US" b="1" dirty="0"/>
              <a:t>Microsoft Excel / CSV </a:t>
            </a:r>
            <a:r>
              <a:rPr lang="en-US" altLang="en-US" dirty="0"/>
              <a:t>– For data storage and input</a:t>
            </a:r>
            <a:endParaRPr lang="en-US" altLang="en-US" dirty="0"/>
          </a:p>
          <a:p>
            <a:endParaRPr lang="en-US" altLang="en-US" dirty="0"/>
          </a:p>
          <a:p>
            <a:r>
              <a:rPr lang="en-US" altLang="en-US" b="1" dirty="0"/>
              <a:t>AI Features (Power BI AI) </a:t>
            </a:r>
            <a:r>
              <a:rPr lang="en-US" altLang="en-US" dirty="0"/>
              <a:t>– For insights and predictions</a:t>
            </a:r>
            <a:endParaRPr lang="en-US" altLang="en-US" dirty="0"/>
          </a:p>
          <a:p>
            <a:endParaRPr lang="en-US" altLang="en-US" dirty="0"/>
          </a:p>
          <a:p>
            <a:r>
              <a:rPr lang="en-US" altLang="en-US" b="1" dirty="0"/>
              <a:t>Power Query</a:t>
            </a:r>
            <a:r>
              <a:rPr lang="en-US" altLang="en-US" dirty="0"/>
              <a:t> – For data cleaning and transformation</a:t>
            </a:r>
            <a:endParaRPr lang="en-US" altLang="en-US" dirty="0"/>
          </a:p>
          <a:p>
            <a:endParaRPr lang="en-US" altLang="en-US" dirty="0"/>
          </a:p>
          <a:p>
            <a:r>
              <a:rPr lang="en-US" altLang="en-US" b="1" dirty="0"/>
              <a:t>DAX (Data Analysis Expressions) </a:t>
            </a:r>
            <a:r>
              <a:rPr lang="en-US" altLang="en-US" dirty="0"/>
              <a:t>– For calculations and analysis</a:t>
            </a:r>
            <a:r>
              <a:rPr lang="fr-FR" dirty="0"/>
              <a:t>.</a:t>
            </a:r>
            <a:endParaRPr lang="fr-FR" dirty="0"/>
          </a:p>
          <a:p>
            <a:pPr>
              <a:buFont typeface="Arial" panose="020B0604020202020204" pitchFamily="34" charset="0"/>
              <a:buChar char="•"/>
            </a:pPr>
            <a:endParaRPr lang="en-US" dirty="0">
              <a:solidFill>
                <a:schemeClr val="accent4">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686435"/>
            <a:ext cx="6684645" cy="5640070"/>
          </a:xfrm>
          <a:prstGeom prst="rect">
            <a:avLst/>
          </a:prstGeom>
          <a:noFill/>
        </p:spPr>
        <p:txBody>
          <a:bodyPr wrap="square">
            <a:noAutofit/>
          </a:bodyPr>
          <a:lstStyle/>
          <a:p>
            <a:r>
              <a:rPr lang="en-US" b="1" dirty="0"/>
              <a:t>Implementation</a:t>
            </a:r>
            <a:endParaRPr lang="en-US" b="1" dirty="0"/>
          </a:p>
          <a:p>
            <a:endParaRPr lang="en-US" b="1" dirty="0"/>
          </a:p>
          <a:p>
            <a:pPr marL="285750" indent="-285750">
              <a:buFont typeface="Arial" panose="020B0604020202020204" pitchFamily="34" charset="0"/>
              <a:buChar char="•"/>
            </a:pPr>
            <a:r>
              <a:rPr lang="en-US" altLang="en-US" b="1" dirty="0"/>
              <a:t>Data Collection Module</a:t>
            </a:r>
            <a:endParaRPr lang="en-US" altLang="en-US" b="1" dirty="0"/>
          </a:p>
          <a:p>
            <a:r>
              <a:rPr lang="en-US" altLang="en-US" dirty="0"/>
              <a:t>This module collects COVID-19 data from different sources such as Excel files, CSV files, or online datasets. It ensures that the required data like cases, recoveries, and deaths is gathered properly for analysis.</a:t>
            </a:r>
            <a:endParaRPr lang="en-US" altLang="en-US" dirty="0"/>
          </a:p>
          <a:p>
            <a:pPr marL="285750" indent="-285750">
              <a:buFont typeface="Arial" panose="020B0604020202020204" pitchFamily="34" charset="0"/>
              <a:buChar char="•"/>
            </a:pPr>
            <a:r>
              <a:rPr lang="en-US" altLang="en-US" b="1" dirty="0"/>
              <a:t>Data Cleaning Module</a:t>
            </a:r>
            <a:endParaRPr lang="en-US" altLang="en-US" b="1" dirty="0"/>
          </a:p>
          <a:p>
            <a:r>
              <a:rPr lang="en-US" altLang="en-US" dirty="0"/>
              <a:t>In this module, the collected data is cleaned by removing duplicate values, handling missing data, and correcting errors. This step improves the quality and accuracy of the data.</a:t>
            </a:r>
            <a:endParaRPr lang="en-US" altLang="en-US" dirty="0"/>
          </a:p>
          <a:p>
            <a:pPr marL="285750" indent="-285750">
              <a:buFont typeface="Arial" panose="020B0604020202020204" pitchFamily="34" charset="0"/>
              <a:buChar char="•"/>
            </a:pPr>
            <a:r>
              <a:rPr lang="en-US" altLang="en-US" b="1" dirty="0"/>
              <a:t>Data Visualization Module</a:t>
            </a:r>
            <a:endParaRPr lang="en-US" altLang="en-US" b="1" dirty="0"/>
          </a:p>
          <a:p>
            <a:r>
              <a:rPr lang="en-US" altLang="en-US" dirty="0"/>
              <a:t>This module uses Power BI to create charts, graphs, and dashboards. It helps in presenting the data in a clear and easy-to-understand format for users.</a:t>
            </a:r>
            <a:endParaRPr lang="en-US" altLang="en-US" dirty="0"/>
          </a:p>
          <a:p>
            <a:pPr marL="285750" indent="-285750">
              <a:buFont typeface="Arial" panose="020B0604020202020204" pitchFamily="34" charset="0"/>
              <a:buChar char="•"/>
            </a:pPr>
            <a:r>
              <a:rPr lang="en-US" altLang="en-US" b="1" dirty="0"/>
              <a:t>AI Insights Module</a:t>
            </a:r>
            <a:endParaRPr lang="en-US" altLang="en-US" b="1" dirty="0"/>
          </a:p>
          <a:p>
            <a:r>
              <a:rPr lang="en-US" altLang="en-US" dirty="0"/>
              <a:t>This module uses Power BI AI features to identify patterns, trends, and predictions. It helps users to understand future outcomes and supports better decision-making.</a:t>
            </a: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28395" y="966470"/>
            <a:ext cx="7211695" cy="5145405"/>
          </a:xfrm>
          <a:prstGeom prst="rect">
            <a:avLst/>
          </a:prstGeom>
          <a:noFill/>
        </p:spPr>
        <p:txBody>
          <a:bodyPr wrap="square">
            <a:noAutofit/>
          </a:bodyPr>
          <a:lstStyle/>
          <a:p>
            <a:r>
              <a:rPr lang="en-US" b="1" dirty="0"/>
              <a:t>Results &amp; Output:</a:t>
            </a:r>
            <a:endParaRPr lang="en-US" b="1" dirty="0"/>
          </a:p>
          <a:p>
            <a:endParaRPr lang="en-US" b="1" dirty="0"/>
          </a:p>
          <a:p>
            <a:r>
              <a:rPr lang="en-US" altLang="en-US" b="1" dirty="0">
                <a:solidFill>
                  <a:schemeClr val="tx1"/>
                </a:solidFill>
              </a:rPr>
              <a:t>Sample Outputs:</a:t>
            </a:r>
            <a:endParaRPr lang="en-US" altLang="en-US" b="1" dirty="0">
              <a:solidFill>
                <a:schemeClr val="tx1"/>
              </a:solidFill>
            </a:endParaRPr>
          </a:p>
          <a:p>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Interactive dashboards created in Power BI</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Charts like bar graph, pie chart, and line chart</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Reports showing trends and patterns</a:t>
            </a:r>
            <a:endParaRPr lang="en-US" altLang="en-US" b="1" dirty="0">
              <a:solidFill>
                <a:schemeClr val="tx1"/>
              </a:solidFill>
            </a:endParaRPr>
          </a:p>
          <a:p>
            <a:endParaRPr lang="en-US" altLang="en-US" dirty="0">
              <a:solidFill>
                <a:schemeClr val="tx1"/>
              </a:solidFill>
            </a:endParaRPr>
          </a:p>
          <a:p>
            <a:r>
              <a:rPr lang="en-US" altLang="en-US" b="1" dirty="0">
                <a:solidFill>
                  <a:schemeClr val="tx1"/>
                </a:solidFill>
              </a:rPr>
              <a:t>Graphs / Performance:</a:t>
            </a:r>
            <a:endParaRPr lang="en-US" altLang="en-US" b="1" dirty="0">
              <a:solidFill>
                <a:schemeClr val="tx1"/>
              </a:solidFill>
            </a:endParaRPr>
          </a:p>
          <a:p>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Clear and easy-to-understand visualizations</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Fast performance with real-time data updates</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Improved data analysis and decision-making</a:t>
            </a:r>
            <a:endParaRPr lang="en-US" altLang="en-US" dirty="0">
              <a:solidFill>
                <a:schemeClr val="tx1"/>
              </a:solidFill>
            </a:endParaRPr>
          </a:p>
          <a:p>
            <a:pPr marL="285750" indent="-285750">
              <a:buFont typeface="Arial" panose="020B0604020202020204" pitchFamily="34" charset="0"/>
              <a:buChar char="•"/>
            </a:pPr>
            <a:endParaRPr lang="en-US" altLang="en-US" dirty="0">
              <a:solidFill>
                <a:schemeClr val="tx1"/>
              </a:solidFill>
            </a:endParaRPr>
          </a:p>
        </p:txBody>
      </p:sp>
      <p:pic>
        <p:nvPicPr>
          <p:cNvPr id="2" name="Picture 1"/>
          <p:cNvPicPr>
            <a:picLocks noChangeAspect="1"/>
          </p:cNvPicPr>
          <p:nvPr/>
        </p:nvPicPr>
        <p:blipFill>
          <a:blip r:embed="rId1"/>
          <a:stretch>
            <a:fillRect/>
          </a:stretch>
        </p:blipFill>
        <p:spPr>
          <a:xfrm>
            <a:off x="5885815" y="3352800"/>
            <a:ext cx="3043555" cy="2677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9080" y="1176655"/>
            <a:ext cx="6108065" cy="4497705"/>
          </a:xfrm>
          <a:prstGeom prst="rect">
            <a:avLst/>
          </a:prstGeom>
          <a:noFill/>
        </p:spPr>
        <p:txBody>
          <a:bodyPr wrap="square">
            <a:noAutofit/>
          </a:bodyPr>
          <a:lstStyle/>
          <a:p>
            <a:r>
              <a:rPr lang="en-US" b="1" dirty="0"/>
              <a:t>Advantages:</a:t>
            </a:r>
            <a:endParaRPr lang="en-US" b="1" dirty="0"/>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r>
              <a:rPr lang="en-US" altLang="en-US" dirty="0">
                <a:solidFill>
                  <a:schemeClr val="tx1"/>
                </a:solidFill>
              </a:rPr>
              <a:t>Makes data easy to understand through visualizations</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Saves time by automating data analysis</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Provides AI-based insights and predictions</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Helps in better and faster decision-making</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Interactive dashboards improve user experience</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Handles large amounts of data efficiently</a:t>
            </a:r>
            <a:endParaRPr lang="en-US" altLang="en-US"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0200" y="1828800"/>
            <a:ext cx="6213475" cy="2526665"/>
          </a:xfrm>
          <a:prstGeom prst="rect">
            <a:avLst/>
          </a:prstGeom>
          <a:noFill/>
        </p:spPr>
        <p:txBody>
          <a:bodyPr wrap="square">
            <a:noAutofit/>
          </a:bodyPr>
          <a:lstStyle/>
          <a:p>
            <a:r>
              <a:rPr lang="en-US" b="1" dirty="0"/>
              <a:t>Limitations:</a:t>
            </a:r>
            <a:endParaRPr lang="en-US" b="1" dirty="0"/>
          </a:p>
          <a:p>
            <a:endParaRPr lang="en-US" b="1" dirty="0">
              <a:solidFill>
                <a:schemeClr val="accent4">
                  <a:lumMod val="50000"/>
                </a:schemeClr>
              </a:solidFill>
            </a:endParaRPr>
          </a:p>
          <a:p>
            <a:pPr marL="285750" indent="-285750">
              <a:buFont typeface="Arial" panose="020B0604020202020204" pitchFamily="34" charset="0"/>
              <a:buChar char="•"/>
            </a:pPr>
            <a:r>
              <a:rPr lang="en-US" altLang="en-US" dirty="0">
                <a:solidFill>
                  <a:schemeClr val="tx1"/>
                </a:solidFill>
              </a:rPr>
              <a:t>Depends on the quality of input data</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Requires basic knowledge of Power BI</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AI insights may not always be 100% accurate</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Limited customization in free version</a:t>
            </a:r>
            <a:endParaRPr lang="en-US" altLang="en-US" dirty="0">
              <a:solidFill>
                <a:schemeClr val="tx1"/>
              </a:solidFill>
            </a:endParaRPr>
          </a:p>
          <a:p>
            <a:pPr marL="285750" indent="-285750">
              <a:buFont typeface="Arial" panose="020B0604020202020204" pitchFamily="34" charset="0"/>
              <a:buChar char="•"/>
            </a:pPr>
            <a:r>
              <a:rPr lang="en-US" altLang="en-US" dirty="0">
                <a:solidFill>
                  <a:schemeClr val="tx1"/>
                </a:solidFill>
              </a:rPr>
              <a:t>Large datasets may affect performance</a:t>
            </a:r>
            <a:endParaRPr lang="en-US" altLang="en-US"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76400" y="1143000"/>
            <a:ext cx="5603240" cy="3119755"/>
          </a:xfrm>
          <a:prstGeom prst="rect">
            <a:avLst/>
          </a:prstGeom>
          <a:noFill/>
        </p:spPr>
        <p:txBody>
          <a:bodyPr wrap="square">
            <a:noAutofit/>
          </a:bodyPr>
          <a:lstStyle/>
          <a:p>
            <a:r>
              <a:rPr lang="en-US" b="1" dirty="0"/>
              <a:t>Future Scope:</a:t>
            </a:r>
            <a:endParaRPr lang="en-US" b="1" dirty="0"/>
          </a:p>
          <a:p>
            <a:endParaRPr lang="en-US" b="1" dirty="0"/>
          </a:p>
          <a:p>
            <a:pPr marL="285750" indent="-285750">
              <a:buFont typeface="Arial" panose="020B0604020202020204" pitchFamily="34" charset="0"/>
              <a:buChar char="•"/>
            </a:pPr>
            <a:r>
              <a:rPr lang="en-US" altLang="en-US" dirty="0"/>
              <a:t>Can use more advanced AI features</a:t>
            </a:r>
            <a:endParaRPr lang="en-US" altLang="en-US" dirty="0"/>
          </a:p>
          <a:p>
            <a:pPr marL="285750" indent="-285750">
              <a:buFont typeface="Arial" panose="020B0604020202020204" pitchFamily="34" charset="0"/>
              <a:buChar char="•"/>
            </a:pPr>
            <a:r>
              <a:rPr lang="en-US" altLang="en-US" dirty="0"/>
              <a:t>Can work with live (real-time) data</a:t>
            </a:r>
            <a:endParaRPr lang="en-US" altLang="en-US" dirty="0"/>
          </a:p>
          <a:p>
            <a:pPr marL="285750" indent="-285750">
              <a:buFont typeface="Arial" panose="020B0604020202020204" pitchFamily="34" charset="0"/>
              <a:buChar char="•"/>
            </a:pPr>
            <a:r>
              <a:rPr lang="en-US" altLang="en-US" dirty="0"/>
              <a:t>Can be used in different fields</a:t>
            </a:r>
            <a:endParaRPr lang="en-US" altLang="en-US" dirty="0"/>
          </a:p>
          <a:p>
            <a:pPr marL="285750" indent="-285750">
              <a:buFont typeface="Arial" panose="020B0604020202020204" pitchFamily="34" charset="0"/>
              <a:buChar char="•"/>
            </a:pPr>
            <a:r>
              <a:rPr lang="en-US" altLang="en-US" dirty="0"/>
              <a:t>Can improve accuracy</a:t>
            </a:r>
            <a:endParaRPr lang="en-US" altLang="en-US" dirty="0"/>
          </a:p>
          <a:p>
            <a:pPr marL="285750" indent="-285750">
              <a:buFont typeface="Arial" panose="020B0604020202020204" pitchFamily="34" charset="0"/>
              <a:buChar char="•"/>
            </a:pPr>
            <a:r>
              <a:rPr lang="en-US" altLang="en-US" dirty="0"/>
              <a:t>Can create better dashboards</a:t>
            </a:r>
            <a:endParaRPr lang="en-US" altLang="en-US" dirty="0"/>
          </a:p>
          <a:p>
            <a:endParaRPr lang="en-US" dirty="0">
              <a:solidFill>
                <a:schemeClr val="accent4">
                  <a:lumMod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8580" y="1066800"/>
            <a:ext cx="6344920" cy="4594860"/>
          </a:xfrm>
          <a:prstGeom prst="rect">
            <a:avLst/>
          </a:prstGeom>
          <a:noFill/>
        </p:spPr>
        <p:txBody>
          <a:bodyPr wrap="square">
            <a:noAutofit/>
          </a:bodyPr>
          <a:lstStyle/>
          <a:p>
            <a:r>
              <a:rPr lang="en-US" b="1" dirty="0"/>
              <a:t>Conclusion:</a:t>
            </a:r>
            <a:endParaRPr lang="en-US" b="1" dirty="0"/>
          </a:p>
          <a:p>
            <a:endParaRPr lang="en-US" b="1" dirty="0"/>
          </a:p>
          <a:p>
            <a:r>
              <a:rPr lang="en-US" altLang="en-US" dirty="0"/>
              <a:t>This project shows how data can be converted into simple and meaningful visualizations using Power BI. By using AI features, it helps to find patterns, trends, and useful insights. The project makes data easy to understand and supports better decision-making.</a:t>
            </a:r>
            <a:endParaRPr lang="en-US" altLang="en-US" dirty="0"/>
          </a:p>
          <a:p>
            <a:endParaRPr lang="en-US" altLang="en-US" dirty="0"/>
          </a:p>
          <a:p>
            <a:r>
              <a:rPr lang="en-US" altLang="en-US" dirty="0"/>
              <a:t>It also reduces manual effort in data analysis and saves time. Interactive dashboards allow users to explore data easily and get quick results. Overall, this project improves data analysis efficiency and helps organizations make smart and data-driven decisions.</a:t>
            </a:r>
            <a:endParaRPr lang="en-US" altLang="en-US" dirty="0"/>
          </a:p>
          <a:p>
            <a:endParaRPr lang="en-US" dirty="0">
              <a:solidFill>
                <a:schemeClr val="accent4">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05200" y="2667000"/>
            <a:ext cx="3048000" cy="706755"/>
          </a:xfrm>
          <a:prstGeom prst="rect">
            <a:avLst/>
          </a:prstGeom>
          <a:noFill/>
        </p:spPr>
        <p:txBody>
          <a:bodyPr wrap="square" rtlCol="0">
            <a:spAutoFit/>
          </a:bodyPr>
          <a:p>
            <a:r>
              <a:rPr lang="en-US" sz="4000">
                <a:solidFill>
                  <a:srgbClr val="FF0000"/>
                </a:solidFill>
                <a:highlight>
                  <a:srgbClr val="FFFF00"/>
                </a:highlight>
              </a:rPr>
              <a:t>THANK YOU</a:t>
            </a:r>
            <a:endParaRPr lang="en-US" sz="4000">
              <a:solidFill>
                <a:srgbClr val="FF0000"/>
              </a:solidFill>
              <a:highlight>
                <a:srgbClr val="FFFF00"/>
              </a:highlight>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4186</Words>
  <Application>WPS Presentation</Application>
  <PresentationFormat>On-screen Show (4:3)</PresentationFormat>
  <Paragraphs>136</Paragraphs>
  <Slides>14</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Calibri</vt:lpstr>
      <vt:lpstr>Poppins</vt:lpstr>
      <vt:lpstr>Segoe Print</vt:lpstr>
      <vt:lpstr>Times New Roman</vt:lpstr>
      <vt:lpstr>Microsoft YaHei</vt:lpstr>
      <vt:lpstr>Arial Unicode MS</vt:lpstr>
      <vt:lpstr>Calibri</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Gorantla Naveen Gorantla Navee</cp:lastModifiedBy>
  <cp:revision>155</cp:revision>
  <dcterms:created xsi:type="dcterms:W3CDTF">2023-01-22T02:22:00Z</dcterms:created>
  <dcterms:modified xsi:type="dcterms:W3CDTF">2026-04-01T06:23:09Z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A894CE7E9F7F4629A446AB47045B7F33_12</vt:lpwstr>
  </property>
</Properties>
</file>